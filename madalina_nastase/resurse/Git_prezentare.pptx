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Aceasta este schema de ținut minte. Working directory = folderul obișnuit, cu fișierele pe care le editezi. Staging area = zona de pregătire: cu git add alegi exact ce schimbări intră în următorul commit (comparație: coșul de cumpărături înainte de plată). Repository local = istoricul complet, ținut în folderul ascuns .git; un commit este o fotografie a proiectului, cu mesaj, autor și dată. Local vs. remote: primele trei zone sunt pe calculatorul studentului și funcționează fără internet; remote este copia de pe server, comună echipei. Nimic nu ajunge acolo până la git push și nimic nu vine de acolo până la git pull. Stash și shelve sunt „sertare" laterale: salvezi temporar modificări neterminate fără să faci commit, de exemplu când trebuie să treci urgent pe alt branch. Ambele rămân doar local, nu ajung pe remote. Stash este o comandă Git (git stash, git stash list, git stash pop); shelve este o funcție a editoarelor JetBrains, nu a lui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p:spPr>
        <p:txBody>
          <a:bodyPr wrap="square" lIns="0" tIns="0" rIns="0" bIns="0" rtlCol="0" anchor="t"/>
          <a:lstStyle>
            <a:lvl1pPr marL="0" indent="0" algn="l">
              <a:lnSpc>
                <a:spcPct val="115000"/>
              </a:lnSpc>
              <a:buNone/>
              <a:defRPr lang="en-US" sz="3200" dirty="0">
                <a:solidFill>
                  <a:srgbClr val="101B2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p:nvPr>
            <p:ph type="body" idx="101"/>
          </p:nvPr>
        </p:nvSpPr>
        <p:spPr>
          <a:xfrm>
            <a:off x="812800" y="1564580"/>
            <a:ext cx="10566400" cy="4480620"/>
          </a:xfrm>
          <a:prstGeom prst="rect">
            <a:avLst/>
          </a:prstGeom>
          <a:noFill/>
        </p:spPr>
        <p:txBody>
          <a:bodyPr wrap="square" lIns="0" tIns="0" rIns="0" bIns="0" rtlCol="0" anchor="t"/>
          <a:lstStyle>
            <a:lvl1pPr marL="0" indent="0" algn="l">
              <a:lnSpc>
                <a:spcPct val="140000"/>
              </a:lnSpc>
              <a:buNone/>
              <a:defRPr lang="en-US" sz="1600" dirty="0">
                <a:solidFill>
                  <a:srgbClr val="10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p:spPr>
        <p:txBody>
          <a:bodyPr wrap="square" lIns="0" tIns="0" rIns="0" bIns="0" rtlCol="0" anchor="t"/>
          <a:lstStyle>
            <a:lvl1pPr marL="0" indent="0" algn="l">
              <a:lnSpc>
                <a:spcPct val="115000"/>
              </a:lnSpc>
              <a:buNone/>
              <a:defRPr lang="en-US" sz="3200" dirty="0">
                <a:solidFill>
                  <a:srgbClr val="101B2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p:nvPr>
            <p:ph type="body" idx="101"/>
          </p:nvPr>
        </p:nvSpPr>
        <p:spPr>
          <a:xfrm>
            <a:off x="812800" y="1564580"/>
            <a:ext cx="10566400" cy="4480620"/>
          </a:xfrm>
          <a:prstGeom prst="rect">
            <a:avLst/>
          </a:prstGeom>
          <a:noFill/>
        </p:spPr>
        <p:txBody>
          <a:bodyPr wrap="square" lIns="0" tIns="0" rIns="0" bIns="0" rtlCol="0" anchor="t"/>
          <a:lstStyle>
            <a:lvl1pPr marL="0" indent="0" algn="l">
              <a:lnSpc>
                <a:spcPct val="140000"/>
              </a:lnSpc>
              <a:buNone/>
              <a:defRPr lang="en-US" sz="1600" dirty="0">
                <a:solidFill>
                  <a:srgbClr val="10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p:spPr>
        <p:txBody>
          <a:bodyPr wrap="square" lIns="0" tIns="0" rIns="0" bIns="0" rtlCol="0" anchor="t">
            <a:normAutofit/>
          </a:bodyPr>
          <a:lstStyle/>
          <a:p>
            <a:pPr marL="0" indent="0" algn="l">
              <a:lnSpc>
                <a:spcPts val="1960"/>
              </a:lnSpc>
              <a:buNone/>
            </a:pPr>
            <a:r>
              <a:rPr lang="ro-RO" altLang="en-US" sz="1400" kern="0" spc="100" dirty="0">
                <a:solidFill>
                  <a:srgbClr val="F05033"/>
                </a:solidFill>
                <a:latin typeface="JetBrains Mono" pitchFamily="49" charset="0"/>
                <a:ea typeface="JetBrains Mono" pitchFamily="49" charset="-122"/>
                <a:cs typeface="JetBrains Mono" pitchFamily="49" charset="-120"/>
              </a:rPr>
              <a:t>INFO </a:t>
            </a:r>
            <a:r>
              <a:rPr lang="en-US" sz="1400" kern="0" spc="100" dirty="0">
                <a:solidFill>
                  <a:srgbClr val="F05033"/>
                </a:solidFill>
                <a:latin typeface="JetBrains Mono" pitchFamily="49" charset="0"/>
                <a:ea typeface="JetBrains Mono" pitchFamily="49" charset="-122"/>
                <a:cs typeface="JetBrains Mono" pitchFamily="49" charset="-120"/>
              </a:rPr>
              <a:t>1 · LABORATOR</a:t>
            </a:r>
            <a:endParaRPr lang="en-US" sz="1400" dirty="0"/>
          </a:p>
        </p:txBody>
      </p:sp>
      <p:sp>
        <p:nvSpPr>
          <p:cNvPr id="3" name="Text 1"/>
          <p:cNvSpPr/>
          <p:nvPr>
            <p:ph type="title"/>
          </p:nvPr>
        </p:nvSpPr>
        <p:spPr>
          <a:xfrm>
            <a:off x="812800" y="1497905"/>
            <a:ext cx="10883392" cy="932160"/>
          </a:xfrm>
          <a:prstGeom prst="rect">
            <a:avLst/>
          </a:prstGeom>
          <a:noFill/>
        </p:spPr>
        <p:txBody>
          <a:bodyPr wrap="square" lIns="0" tIns="0" rIns="0" bIns="0" rtlCol="0" anchor="t">
            <a:normAutofit/>
          </a:bodyPr>
          <a:lstStyle/>
          <a:p>
            <a:pPr marL="0" indent="0" algn="l">
              <a:lnSpc>
                <a:spcPts val="7140"/>
              </a:lnSpc>
              <a:buNone/>
            </a:pPr>
            <a:r>
              <a:rPr lang="en-US" sz="6800" b="1" i="0" dirty="0">
                <a:solidFill>
                  <a:srgbClr val="F7F5EF"/>
                </a:solidFill>
                <a:latin typeface="IBM Plex Sans" pitchFamily="34" charset="0"/>
                <a:ea typeface="IBM Plex Sans" pitchFamily="34" charset="-122"/>
                <a:cs typeface="IBM Plex Sans" pitchFamily="34" charset="-120"/>
              </a:rPr>
              <a:t>Git, pas cu pas</a:t>
            </a:r>
            <a:endParaRPr lang="en-US" sz="6800" dirty="0"/>
          </a:p>
        </p:txBody>
      </p:sp>
      <p:pic>
        <p:nvPicPr>
          <p:cNvPr id="4" name="Image 0" descr="Schemă decorativă: o linie principală de commit-uri din care pleacă un branch care revine prin merge"/>
          <p:cNvPicPr>
            <a:picLocks noChangeAspect="1"/>
          </p:cNvPicPr>
          <p:nvPr/>
        </p:nvPicPr>
        <p:blipFill>
          <a:blip r:embed="rId1"/>
          <a:srcRect l="-43" r="-43"/>
          <a:stretch>
            <a:fillRect/>
          </a:stretch>
        </p:blipFill>
        <p:spPr>
          <a:xfrm>
            <a:off x="812800" y="2841030"/>
            <a:ext cx="10566400" cy="1397000"/>
          </a:xfrm>
          <a:prstGeom prst="rect">
            <a:avLst/>
          </a:prstGeom>
        </p:spPr>
      </p:pic>
      <p:sp>
        <p:nvSpPr>
          <p:cNvPr id="5" name="Text 2"/>
          <p:cNvSpPr/>
          <p:nvPr/>
        </p:nvSpPr>
        <p:spPr>
          <a:xfrm>
            <a:off x="812800" y="4674295"/>
            <a:ext cx="8502650" cy="711200"/>
          </a:xfrm>
          <a:prstGeom prst="rect">
            <a:avLst/>
          </a:prstGeom>
          <a:noFill/>
        </p:spPr>
        <p:txBody>
          <a:bodyPr wrap="square" lIns="0" tIns="0" rIns="0" bIns="0" rtlCol="0" anchor="t">
            <a:normAutofit/>
          </a:bodyPr>
          <a:lstStyle/>
          <a:p>
            <a:pPr marL="0" indent="0" algn="l">
              <a:lnSpc>
                <a:spcPts val="2700"/>
              </a:lnSpc>
              <a:buNone/>
            </a:pPr>
            <a:r>
              <a:rPr lang="en-US" sz="2000" dirty="0">
                <a:solidFill>
                  <a:srgbClr val="A9B8CF"/>
                </a:solidFill>
                <a:latin typeface="IBM Plex Sans" pitchFamily="34" charset="0"/>
                <a:ea typeface="IBM Plex Sans" pitchFamily="34" charset="-122"/>
                <a:cs typeface="IBM Plex Sans" pitchFamily="34" charset="-120"/>
              </a:rPr>
              <a:t>Versionare, branching, platforme și VS Code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p:spPr>
        <p:txBody>
          <a:bodyPr wrap="square" lIns="0" tIns="0" rIns="0" bIns="0" rtlCol="0" anchor="t">
            <a:normAutofit/>
          </a:bodyPr>
          <a:lstStyle/>
          <a:p>
            <a:pPr marL="0" indent="0" algn="l">
              <a:lnSpc>
                <a:spcPts val="3520"/>
              </a:lnSpc>
              <a:buNone/>
            </a:pPr>
            <a:r>
              <a:rPr lang="en-US" sz="3200" b="1" i="0" dirty="0">
                <a:solidFill>
                  <a:srgbClr val="101B2D"/>
                </a:solidFill>
                <a:latin typeface="IBM Plex Sans" pitchFamily="34" charset="0"/>
                <a:ea typeface="IBM Plex Sans" pitchFamily="34" charset="-122"/>
                <a:cs typeface="IBM Plex Sans" pitchFamily="34" charset="-120"/>
              </a:rPr>
              <a:t>De ce avem nevoie de versionare</a:t>
            </a:r>
            <a:endParaRPr lang="en-US" sz="3200" dirty="0"/>
          </a:p>
        </p:txBody>
      </p:sp>
      <p:sp>
        <p:nvSpPr>
          <p:cNvPr id="3" name="Shape 1"/>
          <p:cNvSpPr/>
          <p:nvPr/>
        </p:nvSpPr>
        <p:spPr>
          <a:xfrm>
            <a:off x="815975" y="1516955"/>
            <a:ext cx="5181600" cy="2411512"/>
          </a:xfrm>
          <a:prstGeom prst="roundRect">
            <a:avLst>
              <a:gd name="adj" fmla="val 4081"/>
            </a:avLst>
          </a:prstGeom>
          <a:solidFill>
            <a:srgbClr val="FFFEFA"/>
          </a:solidFill>
          <a:ln w="6350">
            <a:solidFill>
              <a:srgbClr val="DDD8C8"/>
            </a:solidFill>
            <a:prstDash val="solid"/>
          </a:ln>
        </p:spPr>
      </p:sp>
      <p:sp>
        <p:nvSpPr>
          <p:cNvPr id="4" name="Text 2"/>
          <p:cNvSpPr/>
          <p:nvPr/>
        </p:nvSpPr>
        <p:spPr>
          <a:xfrm>
            <a:off x="1073150" y="1774130"/>
            <a:ext cx="4807268" cy="299641"/>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C63A1E"/>
                </a:solidFill>
                <a:latin typeface="IBM Plex Sans" pitchFamily="34" charset="0"/>
                <a:ea typeface="IBM Plex Sans" pitchFamily="34" charset="-122"/>
                <a:cs typeface="IBM Plex Sans" pitchFamily="34" charset="-120"/>
              </a:rPr>
              <a:t>Fără Git</a:t>
            </a:r>
            <a:endParaRPr lang="en-US" sz="1800" dirty="0"/>
          </a:p>
        </p:txBody>
      </p:sp>
      <p:sp>
        <p:nvSpPr>
          <p:cNvPr id="5" name="Text 3"/>
          <p:cNvSpPr/>
          <p:nvPr/>
        </p:nvSpPr>
        <p:spPr>
          <a:xfrm>
            <a:off x="1073150" y="2175371"/>
            <a:ext cx="4807268" cy="1163241"/>
          </a:xfrm>
          <a:prstGeom prst="rect">
            <a:avLst/>
          </a:prstGeom>
          <a:noFill/>
        </p:spPr>
        <p:txBody>
          <a:bodyPr wrap="square" lIns="0" tIns="0" rIns="0" bIns="0" rtlCol="0" anchor="t">
            <a:normAutofit/>
          </a:bodyPr>
          <a:lstStyle/>
          <a:p>
            <a:pPr marL="0" indent="0" algn="l">
              <a:lnSpc>
                <a:spcPts val="2240"/>
              </a:lnSpc>
              <a:buNone/>
            </a:pPr>
            <a:r>
              <a:rPr lang="en-US" sz="1400" dirty="0">
                <a:solidFill>
                  <a:srgbClr val="45526A"/>
                </a:solidFill>
                <a:latin typeface="JetBrains Mono" pitchFamily="49" charset="0"/>
                <a:ea typeface="JetBrains Mono" pitchFamily="49" charset="-122"/>
                <a:cs typeface="JetBrains Mono" pitchFamily="49" charset="-120"/>
              </a:rPr>
              <a:t>proiect.zip</a:t>
            </a:r>
            <a:endParaRPr lang="en-US" sz="1400" dirty="0"/>
          </a:p>
          <a:p>
            <a:pPr marL="0" indent="0" algn="l">
              <a:lnSpc>
                <a:spcPts val="2240"/>
              </a:lnSpc>
              <a:buNone/>
            </a:pPr>
            <a:r>
              <a:rPr lang="en-US" sz="1400" dirty="0">
                <a:solidFill>
                  <a:srgbClr val="45526A"/>
                </a:solidFill>
                <a:latin typeface="JetBrains Mono" pitchFamily="49" charset="0"/>
                <a:ea typeface="JetBrains Mono" pitchFamily="49" charset="-122"/>
                <a:cs typeface="JetBrains Mono" pitchFamily="49" charset="-120"/>
              </a:rPr>
              <a:t>proiect_final.zip</a:t>
            </a:r>
            <a:endParaRPr lang="en-US" sz="1400" dirty="0"/>
          </a:p>
          <a:p>
            <a:pPr marL="0" indent="0" algn="l">
              <a:lnSpc>
                <a:spcPts val="2240"/>
              </a:lnSpc>
              <a:buNone/>
            </a:pPr>
            <a:r>
              <a:rPr lang="en-US" sz="1400" dirty="0">
                <a:solidFill>
                  <a:srgbClr val="45526A"/>
                </a:solidFill>
                <a:latin typeface="JetBrains Mono" pitchFamily="49" charset="0"/>
                <a:ea typeface="JetBrains Mono" pitchFamily="49" charset="-122"/>
                <a:cs typeface="JetBrains Mono" pitchFamily="49" charset="-120"/>
              </a:rPr>
              <a:t>proiect_final_v2.zip</a:t>
            </a:r>
            <a:endParaRPr lang="en-US" sz="1400" dirty="0"/>
          </a:p>
          <a:p>
            <a:pPr marL="0" indent="0" algn="l">
              <a:lnSpc>
                <a:spcPts val="2240"/>
              </a:lnSpc>
              <a:buNone/>
            </a:pPr>
            <a:r>
              <a:rPr lang="en-US" sz="1400" dirty="0">
                <a:solidFill>
                  <a:srgbClr val="45526A"/>
                </a:solidFill>
                <a:latin typeface="JetBrains Mono" pitchFamily="49" charset="0"/>
                <a:ea typeface="JetBrains Mono" pitchFamily="49" charset="-122"/>
                <a:cs typeface="JetBrains Mono" pitchFamily="49" charset="-120"/>
              </a:rPr>
              <a:t>proiect_final_v2_BUN.zip</a:t>
            </a:r>
            <a:endParaRPr lang="en-US" sz="1400" dirty="0"/>
          </a:p>
        </p:txBody>
      </p:sp>
      <p:sp>
        <p:nvSpPr>
          <p:cNvPr id="6" name="Text 4"/>
          <p:cNvSpPr/>
          <p:nvPr/>
        </p:nvSpPr>
        <p:spPr>
          <a:xfrm>
            <a:off x="1073150" y="3440212"/>
            <a:ext cx="4807268" cy="25648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5526A"/>
                </a:solidFill>
                <a:latin typeface="IBM Plex Sans" pitchFamily="34" charset="0"/>
                <a:ea typeface="IBM Plex Sans" pitchFamily="34" charset="-122"/>
                <a:cs typeface="IBM Plex Sans" pitchFamily="34" charset="-120"/>
              </a:rPr>
              <a:t>Care e cea bună? Cine a schimbat ce?</a:t>
            </a:r>
            <a:endParaRPr lang="en-US" sz="1300" dirty="0"/>
          </a:p>
        </p:txBody>
      </p:sp>
      <p:sp>
        <p:nvSpPr>
          <p:cNvPr id="7" name="Shape 5"/>
          <p:cNvSpPr/>
          <p:nvPr/>
        </p:nvSpPr>
        <p:spPr>
          <a:xfrm>
            <a:off x="6203950" y="1513780"/>
            <a:ext cx="5175250" cy="2417862"/>
          </a:xfrm>
          <a:prstGeom prst="roundRect">
            <a:avLst>
              <a:gd name="adj" fmla="val 4202"/>
            </a:avLst>
          </a:prstGeom>
          <a:solidFill>
            <a:srgbClr val="101B2D"/>
          </a:solidFill>
        </p:spPr>
      </p:sp>
      <p:sp>
        <p:nvSpPr>
          <p:cNvPr id="8" name="Text 6"/>
          <p:cNvSpPr/>
          <p:nvPr/>
        </p:nvSpPr>
        <p:spPr>
          <a:xfrm>
            <a:off x="6457950" y="1767780"/>
            <a:ext cx="4807268" cy="299641"/>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05033"/>
                </a:solidFill>
                <a:latin typeface="IBM Plex Sans" pitchFamily="34" charset="0"/>
                <a:ea typeface="IBM Plex Sans" pitchFamily="34" charset="-122"/>
                <a:cs typeface="IBM Plex Sans" pitchFamily="34" charset="-120"/>
              </a:rPr>
              <a:t>Cu Git</a:t>
            </a:r>
            <a:endParaRPr lang="en-US" sz="1800" dirty="0"/>
          </a:p>
        </p:txBody>
      </p:sp>
      <p:sp>
        <p:nvSpPr>
          <p:cNvPr id="9" name="Text 7"/>
          <p:cNvSpPr/>
          <p:nvPr/>
        </p:nvSpPr>
        <p:spPr>
          <a:xfrm>
            <a:off x="6457950" y="2169021"/>
            <a:ext cx="4807268" cy="1163241"/>
          </a:xfrm>
          <a:prstGeom prst="rect">
            <a:avLst/>
          </a:prstGeom>
          <a:noFill/>
        </p:spPr>
        <p:txBody>
          <a:bodyPr wrap="square" lIns="0" tIns="0" rIns="0" bIns="0" rtlCol="0" anchor="t">
            <a:normAutofit/>
          </a:bodyPr>
          <a:lstStyle/>
          <a:p>
            <a:pPr marL="0" indent="0" algn="l">
              <a:lnSpc>
                <a:spcPts val="2240"/>
              </a:lnSpc>
              <a:buNone/>
            </a:pPr>
            <a:r>
              <a:rPr lang="en-US" sz="1400" dirty="0">
                <a:solidFill>
                  <a:srgbClr val="F05033"/>
                </a:solidFill>
                <a:latin typeface="JetBrains Mono" pitchFamily="49" charset="0"/>
                <a:ea typeface="JetBrains Mono" pitchFamily="49" charset="-122"/>
                <a:cs typeface="JetBrains Mono" pitchFamily="49" charset="-120"/>
              </a:rPr>
              <a:t>a1f3c9e</a:t>
            </a:r>
            <a:r>
              <a:rPr lang="en-US" sz="1400" dirty="0">
                <a:solidFill>
                  <a:srgbClr val="F7F5EF"/>
                </a:solidFill>
                <a:latin typeface="JetBrains Mono" pitchFamily="49" charset="0"/>
                <a:ea typeface="JetBrains Mono" pitchFamily="49" charset="-122"/>
                <a:cs typeface="JetBrains Mono" pitchFamily="49" charset="-120"/>
              </a:rPr>
              <a:t> Adaugă sortarea</a:t>
            </a:r>
            <a:endParaRPr lang="en-US" sz="1400" dirty="0"/>
          </a:p>
          <a:p>
            <a:pPr marL="0" indent="0" algn="l">
              <a:lnSpc>
                <a:spcPts val="2240"/>
              </a:lnSpc>
              <a:buNone/>
            </a:pPr>
            <a:r>
              <a:rPr lang="en-US" sz="1400" dirty="0">
                <a:solidFill>
                  <a:srgbClr val="F05033"/>
                </a:solidFill>
                <a:latin typeface="JetBrains Mono" pitchFamily="49" charset="0"/>
                <a:ea typeface="JetBrains Mono" pitchFamily="49" charset="-122"/>
                <a:cs typeface="JetBrains Mono" pitchFamily="49" charset="-120"/>
              </a:rPr>
              <a:t>7be02d4</a:t>
            </a:r>
            <a:r>
              <a:rPr lang="en-US" sz="1400" dirty="0">
                <a:solidFill>
                  <a:srgbClr val="F7F5EF"/>
                </a:solidFill>
                <a:latin typeface="JetBrains Mono" pitchFamily="49" charset="0"/>
                <a:ea typeface="JetBrains Mono" pitchFamily="49" charset="-122"/>
                <a:cs typeface="JetBrains Mono" pitchFamily="49" charset="-120"/>
              </a:rPr>
              <a:t> Repară citirea din fișier</a:t>
            </a:r>
            <a:endParaRPr lang="en-US" sz="1400" dirty="0"/>
          </a:p>
          <a:p>
            <a:pPr marL="0" indent="0" algn="l">
              <a:lnSpc>
                <a:spcPts val="2240"/>
              </a:lnSpc>
              <a:buNone/>
            </a:pPr>
            <a:r>
              <a:rPr lang="en-US" sz="1400" dirty="0">
                <a:solidFill>
                  <a:srgbClr val="F05033"/>
                </a:solidFill>
                <a:latin typeface="JetBrains Mono" pitchFamily="49" charset="0"/>
                <a:ea typeface="JetBrains Mono" pitchFamily="49" charset="-122"/>
                <a:cs typeface="JetBrains Mono" pitchFamily="49" charset="-120"/>
              </a:rPr>
              <a:t>c94e118</a:t>
            </a:r>
            <a:r>
              <a:rPr lang="en-US" sz="1400" dirty="0">
                <a:solidFill>
                  <a:srgbClr val="F7F5EF"/>
                </a:solidFill>
                <a:latin typeface="JetBrains Mono" pitchFamily="49" charset="0"/>
                <a:ea typeface="JetBrains Mono" pitchFamily="49" charset="-122"/>
                <a:cs typeface="JetBrains Mono" pitchFamily="49" charset="-120"/>
              </a:rPr>
              <a:t> Adaugă meniul principal</a:t>
            </a:r>
            <a:endParaRPr lang="en-US" sz="1400" dirty="0"/>
          </a:p>
          <a:p>
            <a:pPr marL="0" indent="0" algn="l">
              <a:lnSpc>
                <a:spcPts val="2240"/>
              </a:lnSpc>
              <a:buNone/>
            </a:pPr>
            <a:r>
              <a:rPr lang="en-US" sz="1400" dirty="0">
                <a:solidFill>
                  <a:srgbClr val="F05033"/>
                </a:solidFill>
                <a:latin typeface="JetBrains Mono" pitchFamily="49" charset="0"/>
                <a:ea typeface="JetBrains Mono" pitchFamily="49" charset="-122"/>
                <a:cs typeface="JetBrains Mono" pitchFamily="49" charset="-120"/>
              </a:rPr>
              <a:t>02ad5f7</a:t>
            </a:r>
            <a:r>
              <a:rPr lang="en-US" sz="1400" dirty="0">
                <a:solidFill>
                  <a:srgbClr val="F7F5EF"/>
                </a:solidFill>
                <a:latin typeface="JetBrains Mono" pitchFamily="49" charset="0"/>
                <a:ea typeface="JetBrains Mono" pitchFamily="49" charset="-122"/>
                <a:cs typeface="JetBrains Mono" pitchFamily="49" charset="-120"/>
              </a:rPr>
              <a:t> Primul commit</a:t>
            </a:r>
            <a:endParaRPr lang="en-US" sz="1400" dirty="0"/>
          </a:p>
        </p:txBody>
      </p:sp>
      <p:sp>
        <p:nvSpPr>
          <p:cNvPr id="10" name="Text 8"/>
          <p:cNvSpPr/>
          <p:nvPr/>
        </p:nvSpPr>
        <p:spPr>
          <a:xfrm>
            <a:off x="6457950" y="3433862"/>
            <a:ext cx="4807268" cy="25648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A9B8CF"/>
                </a:solidFill>
                <a:latin typeface="IBM Plex Sans" pitchFamily="34" charset="0"/>
                <a:ea typeface="IBM Plex Sans" pitchFamily="34" charset="-122"/>
                <a:cs typeface="IBM Plex Sans" pitchFamily="34" charset="-120"/>
              </a:rPr>
              <a:t>Un singur folder, cu tot istoricul în el.</a:t>
            </a:r>
            <a:endParaRPr lang="en-US" sz="1300" dirty="0"/>
          </a:p>
        </p:txBody>
      </p:sp>
      <p:sp>
        <p:nvSpPr>
          <p:cNvPr id="11" name="Shape 9"/>
          <p:cNvSpPr/>
          <p:nvPr/>
        </p:nvSpPr>
        <p:spPr>
          <a:xfrm>
            <a:off x="815975" y="4188817"/>
            <a:ext cx="3380284" cy="1102221"/>
          </a:xfrm>
          <a:prstGeom prst="roundRect">
            <a:avLst>
              <a:gd name="adj" fmla="val 8930"/>
            </a:avLst>
          </a:prstGeom>
          <a:noFill/>
          <a:ln w="6350">
            <a:solidFill>
              <a:srgbClr val="DDD8C8"/>
            </a:solidFill>
            <a:prstDash val="solid"/>
          </a:ln>
        </p:spPr>
      </p:sp>
      <p:sp>
        <p:nvSpPr>
          <p:cNvPr id="12" name="Text 10"/>
          <p:cNvSpPr/>
          <p:nvPr/>
        </p:nvSpPr>
        <p:spPr>
          <a:xfrm>
            <a:off x="1022350" y="4369792"/>
            <a:ext cx="3056560" cy="26918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01B2D"/>
                </a:solidFill>
                <a:latin typeface="IBM Plex Sans" pitchFamily="34" charset="0"/>
                <a:ea typeface="IBM Plex Sans" pitchFamily="34" charset="-122"/>
                <a:cs typeface="IBM Plex Sans" pitchFamily="34" charset="-120"/>
              </a:rPr>
              <a:t>Istoric</a:t>
            </a:r>
            <a:endParaRPr lang="en-US" sz="1600" dirty="0"/>
          </a:p>
        </p:txBody>
      </p:sp>
      <p:sp>
        <p:nvSpPr>
          <p:cNvPr id="13" name="Text 11"/>
          <p:cNvSpPr/>
          <p:nvPr/>
        </p:nvSpPr>
        <p:spPr>
          <a:xfrm>
            <a:off x="1022350" y="4664373"/>
            <a:ext cx="3056560"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Te întorci oricând la o versiune care mergea.</a:t>
            </a:r>
            <a:endParaRPr lang="en-US" sz="1300" dirty="0"/>
          </a:p>
        </p:txBody>
      </p:sp>
      <p:sp>
        <p:nvSpPr>
          <p:cNvPr id="14" name="Shape 12"/>
          <p:cNvSpPr/>
          <p:nvPr/>
        </p:nvSpPr>
        <p:spPr>
          <a:xfrm>
            <a:off x="4405809" y="4188817"/>
            <a:ext cx="3380383" cy="1102221"/>
          </a:xfrm>
          <a:prstGeom prst="roundRect">
            <a:avLst>
              <a:gd name="adj" fmla="val 8930"/>
            </a:avLst>
          </a:prstGeom>
          <a:noFill/>
          <a:ln w="6350">
            <a:solidFill>
              <a:srgbClr val="DDD8C8"/>
            </a:solidFill>
            <a:prstDash val="solid"/>
          </a:ln>
        </p:spPr>
      </p:sp>
      <p:sp>
        <p:nvSpPr>
          <p:cNvPr id="15" name="Text 13"/>
          <p:cNvSpPr/>
          <p:nvPr/>
        </p:nvSpPr>
        <p:spPr>
          <a:xfrm>
            <a:off x="4612184" y="4369792"/>
            <a:ext cx="3056662" cy="26918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01B2D"/>
                </a:solidFill>
                <a:latin typeface="IBM Plex Sans" pitchFamily="34" charset="0"/>
                <a:ea typeface="IBM Plex Sans" pitchFamily="34" charset="-122"/>
                <a:cs typeface="IBM Plex Sans" pitchFamily="34" charset="-120"/>
              </a:rPr>
              <a:t>Colaborare</a:t>
            </a:r>
            <a:endParaRPr lang="en-US" sz="1600" dirty="0"/>
          </a:p>
        </p:txBody>
      </p:sp>
      <p:sp>
        <p:nvSpPr>
          <p:cNvPr id="16" name="Text 14"/>
          <p:cNvSpPr/>
          <p:nvPr/>
        </p:nvSpPr>
        <p:spPr>
          <a:xfrm>
            <a:off x="4612184" y="4664373"/>
            <a:ext cx="3056662"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Mai mulți colegi lucrează pe același cod fără să se încurce.</a:t>
            </a:r>
            <a:endParaRPr lang="en-US" sz="1300" dirty="0"/>
          </a:p>
        </p:txBody>
      </p:sp>
      <p:sp>
        <p:nvSpPr>
          <p:cNvPr id="17" name="Shape 15"/>
          <p:cNvSpPr/>
          <p:nvPr/>
        </p:nvSpPr>
        <p:spPr>
          <a:xfrm>
            <a:off x="7995741" y="4188817"/>
            <a:ext cx="3380284" cy="1102221"/>
          </a:xfrm>
          <a:prstGeom prst="roundRect">
            <a:avLst>
              <a:gd name="adj" fmla="val 8930"/>
            </a:avLst>
          </a:prstGeom>
          <a:noFill/>
          <a:ln w="6350">
            <a:solidFill>
              <a:srgbClr val="DDD8C8"/>
            </a:solidFill>
            <a:prstDash val="solid"/>
          </a:ln>
        </p:spPr>
      </p:sp>
      <p:sp>
        <p:nvSpPr>
          <p:cNvPr id="18" name="Text 16"/>
          <p:cNvSpPr/>
          <p:nvPr/>
        </p:nvSpPr>
        <p:spPr>
          <a:xfrm>
            <a:off x="8202116" y="4369792"/>
            <a:ext cx="3056560" cy="26918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01B2D"/>
                </a:solidFill>
                <a:latin typeface="IBM Plex Sans" pitchFamily="34" charset="0"/>
                <a:ea typeface="IBM Plex Sans" pitchFamily="34" charset="-122"/>
                <a:cs typeface="IBM Plex Sans" pitchFamily="34" charset="-120"/>
              </a:rPr>
              <a:t>Siguranță</a:t>
            </a:r>
            <a:endParaRPr lang="en-US" sz="1600" dirty="0"/>
          </a:p>
        </p:txBody>
      </p:sp>
      <p:sp>
        <p:nvSpPr>
          <p:cNvPr id="19" name="Text 17"/>
          <p:cNvSpPr/>
          <p:nvPr/>
        </p:nvSpPr>
        <p:spPr>
          <a:xfrm>
            <a:off x="8202116" y="4664373"/>
            <a:ext cx="3056560"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O copie pe o platformă online: laptopul stricat nu mai e o tragedie.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p:spPr>
        <p:txBody>
          <a:bodyPr wrap="square" lIns="0" tIns="0" rIns="0" bIns="0" rtlCol="0" anchor="t">
            <a:normAutofit/>
          </a:bodyPr>
          <a:lstStyle/>
          <a:p>
            <a:pPr marL="0" indent="0" algn="l">
              <a:lnSpc>
                <a:spcPts val="3520"/>
              </a:lnSpc>
              <a:buNone/>
            </a:pPr>
            <a:r>
              <a:rPr lang="en-US" sz="3200" b="1" i="0" dirty="0">
                <a:solidFill>
                  <a:srgbClr val="101B2D"/>
                </a:solidFill>
                <a:latin typeface="IBM Plex Sans" pitchFamily="34" charset="0"/>
                <a:ea typeface="IBM Plex Sans" pitchFamily="34" charset="-122"/>
                <a:cs typeface="IBM Plex Sans" pitchFamily="34" charset="-120"/>
              </a:rPr>
              <a:t>Cele patru zone prin care trece codul</a:t>
            </a:r>
            <a:endParaRPr lang="en-US" sz="3200" dirty="0"/>
          </a:p>
        </p:txBody>
      </p:sp>
      <p:sp>
        <p:nvSpPr>
          <p:cNvPr id="3" name="Text 1"/>
          <p:cNvSpPr/>
          <p:nvPr/>
        </p:nvSpPr>
        <p:spPr>
          <a:xfrm>
            <a:off x="812800" y="1424880"/>
            <a:ext cx="7594600" cy="340320"/>
          </a:xfrm>
          <a:prstGeom prst="roundRect">
            <a:avLst>
              <a:gd name="adj" fmla="val 18659"/>
            </a:avLst>
          </a:prstGeom>
          <a:solidFill>
            <a:srgbClr val="E9E4D4"/>
          </a:solidFill>
        </p:spPr>
        <p:txBody>
          <a:bodyPr wrap="square" lIns="133801" tIns="44901" rIns="0" bIns="19501" rtlCol="0" anchor="t">
            <a:normAutofit/>
          </a:bodyPr>
          <a:lstStyle/>
          <a:p>
            <a:pPr marL="0" indent="0" algn="l">
              <a:lnSpc>
                <a:spcPts val="1680"/>
              </a:lnSpc>
              <a:buNone/>
            </a:pPr>
            <a:r>
              <a:rPr lang="en-US" sz="1200" b="1" kern="0" spc="50" dirty="0">
                <a:solidFill>
                  <a:srgbClr val="101B2D"/>
                </a:solidFill>
                <a:latin typeface="IBM Plex Sans" pitchFamily="34" charset="0"/>
                <a:ea typeface="IBM Plex Sans" pitchFamily="34" charset="-122"/>
                <a:cs typeface="IBM Plex Sans" pitchFamily="34" charset="-120"/>
              </a:rPr>
              <a:t>LOCAL · pe calculatorul tău, funcționează și fără internet</a:t>
            </a:r>
            <a:endParaRPr lang="en-US" sz="1200" dirty="0"/>
          </a:p>
        </p:txBody>
      </p:sp>
      <p:sp>
        <p:nvSpPr>
          <p:cNvPr id="4" name="Text 2"/>
          <p:cNvSpPr/>
          <p:nvPr/>
        </p:nvSpPr>
        <p:spPr>
          <a:xfrm>
            <a:off x="8509000" y="1424880"/>
            <a:ext cx="1676400" cy="340320"/>
          </a:xfrm>
          <a:prstGeom prst="roundRect">
            <a:avLst>
              <a:gd name="adj" fmla="val 18659"/>
            </a:avLst>
          </a:prstGeom>
          <a:solidFill>
            <a:srgbClr val="2459C4"/>
          </a:solidFill>
        </p:spPr>
        <p:txBody>
          <a:bodyPr wrap="square" lIns="133801" tIns="44901" rIns="83001" bIns="19501" rtlCol="0" anchor="t">
            <a:normAutofit/>
          </a:bodyPr>
          <a:lstStyle/>
          <a:p>
            <a:pPr marL="0" indent="0" algn="l">
              <a:lnSpc>
                <a:spcPts val="1680"/>
              </a:lnSpc>
              <a:buNone/>
            </a:pPr>
            <a:r>
              <a:rPr lang="en-US" sz="1200" b="1" kern="0" spc="50" dirty="0">
                <a:solidFill>
                  <a:srgbClr val="F7F5EF"/>
                </a:solidFill>
                <a:latin typeface="IBM Plex Sans" pitchFamily="34" charset="0"/>
                <a:ea typeface="IBM Plex Sans" pitchFamily="34" charset="-122"/>
                <a:cs typeface="IBM Plex Sans" pitchFamily="34" charset="-120"/>
              </a:rPr>
              <a:t>REMOTE · online</a:t>
            </a:r>
            <a:endParaRPr lang="en-US" sz="1200" dirty="0"/>
          </a:p>
        </p:txBody>
      </p:sp>
      <p:sp>
        <p:nvSpPr>
          <p:cNvPr id="5" name="Shape 3"/>
          <p:cNvSpPr/>
          <p:nvPr/>
        </p:nvSpPr>
        <p:spPr>
          <a:xfrm>
            <a:off x="819150" y="1936651"/>
            <a:ext cx="1663700" cy="1828403"/>
          </a:xfrm>
          <a:prstGeom prst="roundRect">
            <a:avLst>
              <a:gd name="adj" fmla="val 5725"/>
            </a:avLst>
          </a:prstGeom>
          <a:solidFill>
            <a:srgbClr val="FFFEFA"/>
          </a:solidFill>
          <a:ln w="12700">
            <a:solidFill>
              <a:srgbClr val="101B2D"/>
            </a:solidFill>
            <a:prstDash val="solid"/>
          </a:ln>
        </p:spPr>
      </p:sp>
      <p:sp>
        <p:nvSpPr>
          <p:cNvPr id="6" name="Text 4"/>
          <p:cNvSpPr/>
          <p:nvPr/>
        </p:nvSpPr>
        <p:spPr>
          <a:xfrm>
            <a:off x="977900" y="2095401"/>
            <a:ext cx="1397000" cy="4826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01B2D"/>
                </a:solidFill>
                <a:latin typeface="IBM Plex Sans" pitchFamily="34" charset="0"/>
                <a:ea typeface="IBM Plex Sans" pitchFamily="34" charset="-122"/>
                <a:cs typeface="IBM Plex Sans" pitchFamily="34" charset="-120"/>
              </a:rPr>
              <a:t>Working directory</a:t>
            </a:r>
            <a:endParaRPr lang="en-US" sz="1500" dirty="0"/>
          </a:p>
        </p:txBody>
      </p:sp>
      <p:sp>
        <p:nvSpPr>
          <p:cNvPr id="7" name="Text 5"/>
          <p:cNvSpPr/>
          <p:nvPr/>
        </p:nvSpPr>
        <p:spPr>
          <a:xfrm>
            <a:off x="977900" y="2616101"/>
            <a:ext cx="1397000" cy="817563"/>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45526A"/>
                </a:solidFill>
                <a:latin typeface="IBM Plex Sans" pitchFamily="34" charset="0"/>
                <a:ea typeface="IBM Plex Sans" pitchFamily="34" charset="-122"/>
                <a:cs typeface="IBM Plex Sans" pitchFamily="34" charset="-120"/>
              </a:rPr>
              <a:t>Folderul proiectului: fișierele pe care le vezi și le editezi</a:t>
            </a:r>
            <a:endParaRPr lang="en-US" sz="1200" dirty="0"/>
          </a:p>
        </p:txBody>
      </p:sp>
      <p:sp>
        <p:nvSpPr>
          <p:cNvPr id="8" name="Text 6"/>
          <p:cNvSpPr/>
          <p:nvPr/>
        </p:nvSpPr>
        <p:spPr>
          <a:xfrm>
            <a:off x="2783780" y="2633663"/>
            <a:ext cx="744240" cy="256480"/>
          </a:xfrm>
          <a:prstGeom prst="rect">
            <a:avLst/>
          </a:prstGeom>
          <a:noFill/>
        </p:spPr>
        <p:txBody>
          <a:bodyPr wrap="none" lIns="0" tIns="0" rIns="0" bIns="0" rtlCol="0" anchor="t">
            <a:normAutofit/>
          </a:bodyPr>
          <a:lstStyle/>
          <a:p>
            <a:pPr marL="0" indent="0" algn="l">
              <a:lnSpc>
                <a:spcPts val="1820"/>
              </a:lnSpc>
              <a:buNone/>
            </a:pPr>
            <a:r>
              <a:rPr lang="en-US" sz="1300" b="1" dirty="0">
                <a:solidFill>
                  <a:srgbClr val="C63A1E"/>
                </a:solidFill>
                <a:latin typeface="JetBrains Mono" pitchFamily="49" charset="0"/>
                <a:ea typeface="JetBrains Mono" pitchFamily="49" charset="-122"/>
                <a:cs typeface="JetBrains Mono" pitchFamily="49" charset="-120"/>
              </a:rPr>
              <a:t>git add</a:t>
            </a:r>
            <a:endParaRPr lang="en-US" sz="1300" dirty="0"/>
          </a:p>
        </p:txBody>
      </p:sp>
      <p:pic>
        <p:nvPicPr>
          <p:cNvPr id="9" name="Image 0" descr="connector"/>
          <p:cNvPicPr>
            <a:picLocks noChangeAspect="1"/>
          </p:cNvPicPr>
          <p:nvPr/>
        </p:nvPicPr>
        <p:blipFill>
          <a:blip r:embed="rId1"/>
          <a:srcRect/>
          <a:stretch>
            <a:fillRect/>
          </a:stretch>
        </p:blipFill>
        <p:spPr>
          <a:xfrm>
            <a:off x="2654300" y="2940943"/>
            <a:ext cx="952500" cy="127000"/>
          </a:xfrm>
          <a:prstGeom prst="rect">
            <a:avLst/>
          </a:prstGeom>
        </p:spPr>
      </p:pic>
      <p:sp>
        <p:nvSpPr>
          <p:cNvPr id="10" name="Shape 7"/>
          <p:cNvSpPr/>
          <p:nvPr/>
        </p:nvSpPr>
        <p:spPr>
          <a:xfrm>
            <a:off x="3778250" y="1936651"/>
            <a:ext cx="1663700" cy="1828403"/>
          </a:xfrm>
          <a:prstGeom prst="roundRect">
            <a:avLst>
              <a:gd name="adj" fmla="val 5725"/>
            </a:avLst>
          </a:prstGeom>
          <a:solidFill>
            <a:srgbClr val="FFFEFA"/>
          </a:solidFill>
          <a:ln w="12700">
            <a:solidFill>
              <a:srgbClr val="101B2D"/>
            </a:solidFill>
            <a:prstDash val="solid"/>
          </a:ln>
        </p:spPr>
      </p:sp>
      <p:sp>
        <p:nvSpPr>
          <p:cNvPr id="11" name="Text 8"/>
          <p:cNvSpPr/>
          <p:nvPr/>
        </p:nvSpPr>
        <p:spPr>
          <a:xfrm>
            <a:off x="3937000" y="2095401"/>
            <a:ext cx="139700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01B2D"/>
                </a:solidFill>
                <a:latin typeface="IBM Plex Sans" pitchFamily="34" charset="0"/>
                <a:ea typeface="IBM Plex Sans" pitchFamily="34" charset="-122"/>
                <a:cs typeface="IBM Plex Sans" pitchFamily="34" charset="-120"/>
              </a:rPr>
              <a:t>Staging area</a:t>
            </a:r>
            <a:endParaRPr lang="en-US" sz="1500" dirty="0"/>
          </a:p>
        </p:txBody>
      </p:sp>
      <p:sp>
        <p:nvSpPr>
          <p:cNvPr id="12" name="Text 9"/>
          <p:cNvSpPr/>
          <p:nvPr/>
        </p:nvSpPr>
        <p:spPr>
          <a:xfrm>
            <a:off x="3937000" y="2387501"/>
            <a:ext cx="1397000" cy="619522"/>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45526A"/>
                </a:solidFill>
                <a:latin typeface="IBM Plex Sans" pitchFamily="34" charset="0"/>
                <a:ea typeface="IBM Plex Sans" pitchFamily="34" charset="-122"/>
                <a:cs typeface="IBM Plex Sans" pitchFamily="34" charset="-120"/>
              </a:rPr>
              <a:t>Lista de schimbări alese pentru următorul commit</a:t>
            </a:r>
            <a:endParaRPr lang="en-US" sz="1200" dirty="0"/>
          </a:p>
        </p:txBody>
      </p:sp>
      <p:sp>
        <p:nvSpPr>
          <p:cNvPr id="13" name="Text 10"/>
          <p:cNvSpPr/>
          <p:nvPr/>
        </p:nvSpPr>
        <p:spPr>
          <a:xfrm>
            <a:off x="5594350" y="2633663"/>
            <a:ext cx="1041400" cy="256480"/>
          </a:xfrm>
          <a:prstGeom prst="rect">
            <a:avLst/>
          </a:prstGeom>
          <a:noFill/>
        </p:spPr>
        <p:txBody>
          <a:bodyPr wrap="none" lIns="0" tIns="0" rIns="0" bIns="0" rtlCol="0" anchor="t">
            <a:normAutofit/>
          </a:bodyPr>
          <a:lstStyle/>
          <a:p>
            <a:pPr marL="0" indent="0" algn="l">
              <a:lnSpc>
                <a:spcPts val="1820"/>
              </a:lnSpc>
              <a:buNone/>
            </a:pPr>
            <a:r>
              <a:rPr lang="en-US" sz="1300" b="1" dirty="0">
                <a:solidFill>
                  <a:srgbClr val="C63A1E"/>
                </a:solidFill>
                <a:latin typeface="JetBrains Mono" pitchFamily="49" charset="0"/>
                <a:ea typeface="JetBrains Mono" pitchFamily="49" charset="-122"/>
                <a:cs typeface="JetBrains Mono" pitchFamily="49" charset="-120"/>
              </a:rPr>
              <a:t>git commit</a:t>
            </a:r>
            <a:endParaRPr lang="en-US" sz="1300" dirty="0"/>
          </a:p>
        </p:txBody>
      </p:sp>
      <p:pic>
        <p:nvPicPr>
          <p:cNvPr id="14" name="Image 1" descr="connector"/>
          <p:cNvPicPr>
            <a:picLocks noChangeAspect="1"/>
          </p:cNvPicPr>
          <p:nvPr/>
        </p:nvPicPr>
        <p:blipFill>
          <a:blip r:embed="rId1"/>
          <a:srcRect/>
          <a:stretch>
            <a:fillRect/>
          </a:stretch>
        </p:blipFill>
        <p:spPr>
          <a:xfrm>
            <a:off x="5613400" y="2940943"/>
            <a:ext cx="952500" cy="127000"/>
          </a:xfrm>
          <a:prstGeom prst="rect">
            <a:avLst/>
          </a:prstGeom>
        </p:spPr>
      </p:pic>
      <p:sp>
        <p:nvSpPr>
          <p:cNvPr id="15" name="Shape 11"/>
          <p:cNvSpPr/>
          <p:nvPr/>
        </p:nvSpPr>
        <p:spPr>
          <a:xfrm>
            <a:off x="6737350" y="1936651"/>
            <a:ext cx="1663700" cy="1828403"/>
          </a:xfrm>
          <a:prstGeom prst="roundRect">
            <a:avLst>
              <a:gd name="adj" fmla="val 5725"/>
            </a:avLst>
          </a:prstGeom>
          <a:solidFill>
            <a:srgbClr val="FFFEFA"/>
          </a:solidFill>
          <a:ln w="12700">
            <a:solidFill>
              <a:srgbClr val="101B2D"/>
            </a:solidFill>
            <a:prstDash val="solid"/>
          </a:ln>
        </p:spPr>
      </p:sp>
      <p:sp>
        <p:nvSpPr>
          <p:cNvPr id="16" name="Text 12"/>
          <p:cNvSpPr/>
          <p:nvPr/>
        </p:nvSpPr>
        <p:spPr>
          <a:xfrm>
            <a:off x="6896100" y="2095401"/>
            <a:ext cx="1397000" cy="4826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01B2D"/>
                </a:solidFill>
                <a:latin typeface="IBM Plex Sans" pitchFamily="34" charset="0"/>
                <a:ea typeface="IBM Plex Sans" pitchFamily="34" charset="-122"/>
                <a:cs typeface="IBM Plex Sans" pitchFamily="34" charset="-120"/>
              </a:rPr>
              <a:t>Repository local</a:t>
            </a:r>
            <a:endParaRPr lang="en-US" sz="1500" dirty="0"/>
          </a:p>
        </p:txBody>
      </p:sp>
      <p:sp>
        <p:nvSpPr>
          <p:cNvPr id="17" name="Text 13"/>
          <p:cNvSpPr/>
          <p:nvPr/>
        </p:nvSpPr>
        <p:spPr>
          <a:xfrm>
            <a:off x="6896100" y="2616101"/>
            <a:ext cx="1397000" cy="1015603"/>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45526A"/>
                </a:solidFill>
                <a:latin typeface="IBM Plex Sans" pitchFamily="34" charset="0"/>
                <a:ea typeface="IBM Plex Sans" pitchFamily="34" charset="-122"/>
                <a:cs typeface="IBM Plex Sans" pitchFamily="34" charset="-120"/>
              </a:rPr>
              <a:t>Istoricul de commit-uri (fotografii ale proiectului), în folderul .git</a:t>
            </a:r>
            <a:endParaRPr lang="en-US" sz="1200" dirty="0"/>
          </a:p>
        </p:txBody>
      </p:sp>
      <p:sp>
        <p:nvSpPr>
          <p:cNvPr id="18" name="Text 14"/>
          <p:cNvSpPr/>
          <p:nvPr/>
        </p:nvSpPr>
        <p:spPr>
          <a:xfrm>
            <a:off x="8652470" y="2633663"/>
            <a:ext cx="843359" cy="256480"/>
          </a:xfrm>
          <a:prstGeom prst="rect">
            <a:avLst/>
          </a:prstGeom>
          <a:noFill/>
        </p:spPr>
        <p:txBody>
          <a:bodyPr wrap="none" lIns="0" tIns="0" rIns="0" bIns="0" rtlCol="0" anchor="t">
            <a:normAutofit/>
          </a:bodyPr>
          <a:lstStyle/>
          <a:p>
            <a:pPr marL="0" indent="0" algn="l">
              <a:lnSpc>
                <a:spcPts val="1820"/>
              </a:lnSpc>
              <a:buNone/>
            </a:pPr>
            <a:r>
              <a:rPr lang="en-US" sz="1300" b="1" dirty="0">
                <a:solidFill>
                  <a:srgbClr val="C63A1E"/>
                </a:solidFill>
                <a:latin typeface="JetBrains Mono" pitchFamily="49" charset="0"/>
                <a:ea typeface="JetBrains Mono" pitchFamily="49" charset="-122"/>
                <a:cs typeface="JetBrains Mono" pitchFamily="49" charset="-120"/>
              </a:rPr>
              <a:t>git push</a:t>
            </a:r>
            <a:endParaRPr lang="en-US" sz="1300" dirty="0"/>
          </a:p>
        </p:txBody>
      </p:sp>
      <p:pic>
        <p:nvPicPr>
          <p:cNvPr id="19" name="Image 2" descr="connector"/>
          <p:cNvPicPr>
            <a:picLocks noChangeAspect="1"/>
          </p:cNvPicPr>
          <p:nvPr/>
        </p:nvPicPr>
        <p:blipFill>
          <a:blip r:embed="rId1"/>
          <a:srcRect/>
          <a:stretch>
            <a:fillRect/>
          </a:stretch>
        </p:blipFill>
        <p:spPr>
          <a:xfrm>
            <a:off x="8572500" y="2940943"/>
            <a:ext cx="952500" cy="127000"/>
          </a:xfrm>
          <a:prstGeom prst="rect">
            <a:avLst/>
          </a:prstGeom>
        </p:spPr>
      </p:pic>
      <p:sp>
        <p:nvSpPr>
          <p:cNvPr id="20" name="Shape 15"/>
          <p:cNvSpPr/>
          <p:nvPr/>
        </p:nvSpPr>
        <p:spPr>
          <a:xfrm>
            <a:off x="9696450" y="1936651"/>
            <a:ext cx="1663700" cy="1828403"/>
          </a:xfrm>
          <a:prstGeom prst="roundRect">
            <a:avLst>
              <a:gd name="adj" fmla="val 5725"/>
            </a:avLst>
          </a:prstGeom>
          <a:solidFill>
            <a:srgbClr val="101B2D"/>
          </a:solidFill>
          <a:ln w="12700">
            <a:solidFill>
              <a:srgbClr val="101B2D"/>
            </a:solidFill>
            <a:prstDash val="solid"/>
          </a:ln>
        </p:spPr>
      </p:sp>
      <p:sp>
        <p:nvSpPr>
          <p:cNvPr id="21" name="Text 16"/>
          <p:cNvSpPr/>
          <p:nvPr/>
        </p:nvSpPr>
        <p:spPr>
          <a:xfrm>
            <a:off x="9855200" y="2095401"/>
            <a:ext cx="1397000" cy="4826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F7F5EF"/>
                </a:solidFill>
                <a:latin typeface="IBM Plex Sans" pitchFamily="34" charset="0"/>
                <a:ea typeface="IBM Plex Sans" pitchFamily="34" charset="-122"/>
                <a:cs typeface="IBM Plex Sans" pitchFamily="34" charset="-120"/>
              </a:rPr>
              <a:t>Repository remote</a:t>
            </a:r>
            <a:endParaRPr lang="en-US" sz="1500" dirty="0"/>
          </a:p>
        </p:txBody>
      </p:sp>
      <p:sp>
        <p:nvSpPr>
          <p:cNvPr id="22" name="Text 17"/>
          <p:cNvSpPr/>
          <p:nvPr/>
        </p:nvSpPr>
        <p:spPr>
          <a:xfrm>
            <a:off x="9855200" y="2616101"/>
            <a:ext cx="1397000" cy="619522"/>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A9B8CF"/>
                </a:solidFill>
                <a:latin typeface="IBM Plex Sans" pitchFamily="34" charset="0"/>
                <a:ea typeface="IBM Plex Sans" pitchFamily="34" charset="-122"/>
                <a:cs typeface="IBM Plex Sans" pitchFamily="34" charset="-120"/>
              </a:rPr>
              <a:t>Copia de pe GitHub sau GitLab, comună întregii echipe</a:t>
            </a:r>
            <a:endParaRPr lang="en-US" sz="1200" dirty="0"/>
          </a:p>
        </p:txBody>
      </p:sp>
      <p:pic>
        <p:nvPicPr>
          <p:cNvPr id="23" name="Image 3" descr="connector"/>
          <p:cNvPicPr>
            <a:picLocks noChangeAspect="1"/>
          </p:cNvPicPr>
          <p:nvPr/>
        </p:nvPicPr>
        <p:blipFill>
          <a:blip r:embed="rId2"/>
          <a:srcRect/>
          <a:stretch>
            <a:fillRect/>
          </a:stretch>
        </p:blipFill>
        <p:spPr>
          <a:xfrm>
            <a:off x="812800" y="4039295"/>
            <a:ext cx="4445000" cy="127000"/>
          </a:xfrm>
          <a:prstGeom prst="rect">
            <a:avLst/>
          </a:prstGeom>
        </p:spPr>
      </p:pic>
      <p:sp>
        <p:nvSpPr>
          <p:cNvPr id="24" name="Text 18"/>
          <p:cNvSpPr/>
          <p:nvPr/>
        </p:nvSpPr>
        <p:spPr>
          <a:xfrm>
            <a:off x="5410200" y="3936504"/>
            <a:ext cx="1097359" cy="332680"/>
          </a:xfrm>
          <a:prstGeom prst="roundRect">
            <a:avLst>
              <a:gd name="adj" fmla="val 22905"/>
            </a:avLst>
          </a:prstGeom>
          <a:solidFill>
            <a:srgbClr val="2459C4"/>
          </a:solidFill>
        </p:spPr>
        <p:txBody>
          <a:bodyPr wrap="none" lIns="0" tIns="0" rIns="0" bIns="0" rtlCol="0" anchor="ctr">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git pull</a:t>
            </a:r>
            <a:endParaRPr lang="en-US" sz="1300" dirty="0"/>
          </a:p>
        </p:txBody>
      </p:sp>
      <p:sp>
        <p:nvSpPr>
          <p:cNvPr id="25" name="Text 19"/>
          <p:cNvSpPr/>
          <p:nvPr/>
        </p:nvSpPr>
        <p:spPr>
          <a:xfrm>
            <a:off x="6659959" y="4003774"/>
            <a:ext cx="4860818" cy="223441"/>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45526A"/>
                </a:solidFill>
                <a:latin typeface="IBM Plex Sans" pitchFamily="34" charset="0"/>
                <a:ea typeface="IBM Plex Sans" pitchFamily="34" charset="-122"/>
                <a:cs typeface="IBM Plex Sans" pitchFamily="34" charset="-120"/>
              </a:rPr>
              <a:t>Sensul invers: aduce de pe remote schimbările colegilor.</a:t>
            </a:r>
            <a:endParaRPr lang="en-US" sz="1200" dirty="0"/>
          </a:p>
        </p:txBody>
      </p:sp>
      <p:sp>
        <p:nvSpPr>
          <p:cNvPr id="26" name="Shape 20"/>
          <p:cNvSpPr/>
          <p:nvPr/>
        </p:nvSpPr>
        <p:spPr>
          <a:xfrm>
            <a:off x="819150" y="4440634"/>
            <a:ext cx="5168900" cy="1124942"/>
          </a:xfrm>
          <a:prstGeom prst="roundRect">
            <a:avLst>
              <a:gd name="adj" fmla="val 8467"/>
            </a:avLst>
          </a:prstGeom>
          <a:noFill/>
          <a:ln w="12700">
            <a:solidFill>
              <a:srgbClr val="C63A1E"/>
            </a:solidFill>
            <a:prstDash val="dash"/>
          </a:ln>
        </p:spPr>
      </p:sp>
      <p:sp>
        <p:nvSpPr>
          <p:cNvPr id="27" name="Text 21"/>
          <p:cNvSpPr/>
          <p:nvPr/>
        </p:nvSpPr>
        <p:spPr>
          <a:xfrm>
            <a:off x="1003300" y="4573984"/>
            <a:ext cx="4944618"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C63A1E"/>
                </a:solidFill>
                <a:latin typeface="JetBrains Mono" pitchFamily="49" charset="0"/>
                <a:ea typeface="JetBrains Mono" pitchFamily="49" charset="-122"/>
                <a:cs typeface="JetBrains Mono" pitchFamily="49" charset="-120"/>
              </a:rPr>
              <a:t>git stash</a:t>
            </a:r>
            <a:endParaRPr lang="en-US" sz="1400" dirty="0"/>
          </a:p>
        </p:txBody>
      </p:sp>
      <p:sp>
        <p:nvSpPr>
          <p:cNvPr id="28" name="Text 22"/>
          <p:cNvSpPr/>
          <p:nvPr/>
        </p:nvSpPr>
        <p:spPr>
          <a:xfrm>
            <a:off x="1003300" y="4838105"/>
            <a:ext cx="4944618" cy="421481"/>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45526A"/>
                </a:solidFill>
                <a:latin typeface="IBM Plex Sans" pitchFamily="34" charset="0"/>
                <a:ea typeface="IBM Plex Sans" pitchFamily="34" charset="-122"/>
                <a:cs typeface="IBM Plex Sans" pitchFamily="34" charset="-120"/>
              </a:rPr>
              <a:t>Pune deoparte modificările neterminate, fără commit, ca să poți schimba branch-ul. Le aduci înapoi cu </a:t>
            </a:r>
            <a:r>
              <a:rPr lang="en-US" sz="1200" b="1" dirty="0">
                <a:solidFill>
                  <a:srgbClr val="45526A"/>
                </a:solidFill>
                <a:latin typeface="IBM Plex Sans" pitchFamily="34" charset="0"/>
                <a:ea typeface="IBM Plex Sans" pitchFamily="34" charset="-122"/>
                <a:cs typeface="IBM Plex Sans" pitchFamily="34" charset="-120"/>
              </a:rPr>
              <a:t>git stash pop</a:t>
            </a:r>
            <a:r>
              <a:rPr lang="en-US" sz="1200" dirty="0">
                <a:solidFill>
                  <a:srgbClr val="45526A"/>
                </a:solidFill>
                <a:latin typeface="IBM Plex Sans" pitchFamily="34" charset="0"/>
                <a:ea typeface="IBM Plex Sans" pitchFamily="34" charset="-122"/>
                <a:cs typeface="IBM Plex Sans" pitchFamily="34" charset="-120"/>
              </a:rPr>
              <a:t>.</a:t>
            </a:r>
            <a:endParaRPr lang="en-US" sz="1200" dirty="0"/>
          </a:p>
        </p:txBody>
      </p:sp>
      <p:sp>
        <p:nvSpPr>
          <p:cNvPr id="29" name="Shape 23"/>
          <p:cNvSpPr/>
          <p:nvPr/>
        </p:nvSpPr>
        <p:spPr>
          <a:xfrm>
            <a:off x="6203950" y="4440634"/>
            <a:ext cx="5168900" cy="1124942"/>
          </a:xfrm>
          <a:prstGeom prst="roundRect">
            <a:avLst>
              <a:gd name="adj" fmla="val 8467"/>
            </a:avLst>
          </a:prstGeom>
          <a:noFill/>
          <a:ln w="12700">
            <a:solidFill>
              <a:srgbClr val="C63A1E"/>
            </a:solidFill>
            <a:prstDash val="dash"/>
          </a:ln>
        </p:spPr>
      </p:sp>
      <p:sp>
        <p:nvSpPr>
          <p:cNvPr id="30" name="Text 24"/>
          <p:cNvSpPr/>
          <p:nvPr/>
        </p:nvSpPr>
        <p:spPr>
          <a:xfrm>
            <a:off x="6388100" y="4573984"/>
            <a:ext cx="4944618"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C63A1E"/>
                </a:solidFill>
                <a:latin typeface="IBM Plex Sans" pitchFamily="34" charset="0"/>
                <a:ea typeface="IBM Plex Sans" pitchFamily="34" charset="-122"/>
                <a:cs typeface="IBM Plex Sans" pitchFamily="34" charset="-120"/>
              </a:rPr>
              <a:t>Shelve („raftul")</a:t>
            </a:r>
            <a:endParaRPr lang="en-US" sz="1400" dirty="0"/>
          </a:p>
        </p:txBody>
      </p:sp>
      <p:sp>
        <p:nvSpPr>
          <p:cNvPr id="31" name="Text 25"/>
          <p:cNvSpPr/>
          <p:nvPr/>
        </p:nvSpPr>
        <p:spPr>
          <a:xfrm>
            <a:off x="6388100" y="4838105"/>
            <a:ext cx="4944618" cy="619522"/>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45526A"/>
                </a:solidFill>
                <a:latin typeface="IBM Plex Sans" pitchFamily="34" charset="0"/>
                <a:ea typeface="IBM Plex Sans" pitchFamily="34" charset="-122"/>
                <a:cs typeface="IBM Plex Sans" pitchFamily="34" charset="-120"/>
              </a:rPr>
              <a:t>Aceeași idee, dar făcută de editor: Shelve Changes în IntelliJ sau PyCharm. În VS Code, echivalentul este Stash, din meniul Source Control.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p:spPr>
        <p:txBody>
          <a:bodyPr wrap="square" lIns="0" tIns="0" rIns="0" bIns="0" rtlCol="0" anchor="t">
            <a:normAutofit/>
          </a:bodyPr>
          <a:lstStyle/>
          <a:p>
            <a:pPr marL="0" indent="0" algn="l">
              <a:lnSpc>
                <a:spcPts val="3520"/>
              </a:lnSpc>
              <a:buNone/>
            </a:pPr>
            <a:r>
              <a:rPr lang="en-US" sz="3200" b="1" i="0" dirty="0">
                <a:solidFill>
                  <a:srgbClr val="101B2D"/>
                </a:solidFill>
                <a:latin typeface="IBM Plex Sans" pitchFamily="34" charset="0"/>
                <a:ea typeface="IBM Plex Sans" pitchFamily="34" charset="-122"/>
                <a:cs typeface="IBM Plex Sans" pitchFamily="34" charset="-120"/>
              </a:rPr>
              <a:t>Instalare și primul commit</a:t>
            </a:r>
            <a:endParaRPr lang="en-US" sz="3200" dirty="0"/>
          </a:p>
        </p:txBody>
      </p:sp>
      <p:sp>
        <p:nvSpPr>
          <p:cNvPr id="3" name="Text 1"/>
          <p:cNvSpPr/>
          <p:nvPr/>
        </p:nvSpPr>
        <p:spPr>
          <a:xfrm>
            <a:off x="812800" y="1513780"/>
            <a:ext cx="6096000" cy="3637062"/>
          </a:xfrm>
          <a:prstGeom prst="roundRect">
            <a:avLst>
              <a:gd name="adj" fmla="val 2793"/>
            </a:avLst>
          </a:prstGeom>
          <a:solidFill>
            <a:srgbClr val="101B2D"/>
          </a:solidFill>
        </p:spPr>
        <p:txBody>
          <a:bodyPr wrap="square" lIns="224242" tIns="224242" rIns="56602" bIns="198842" rtlCol="0" anchor="t">
            <a:normAutofit/>
          </a:bodyPr>
          <a:lstStyle/>
          <a:p>
            <a:pPr marL="0" indent="0" algn="l">
              <a:lnSpc>
                <a:spcPts val="2240"/>
              </a:lnSpc>
              <a:buNone/>
            </a:pPr>
            <a:r>
              <a:rPr lang="en-US" sz="1400" dirty="0">
                <a:solidFill>
                  <a:srgbClr val="A9B8CF"/>
                </a:solidFill>
                <a:latin typeface="JetBrains Mono" pitchFamily="49" charset="0"/>
                <a:ea typeface="JetBrains Mono" pitchFamily="49" charset="-122"/>
                <a:cs typeface="JetBrains Mono" pitchFamily="49" charset="-120"/>
              </a:rPr>
              <a:t># o singură dată, după instalare</a:t>
            </a:r>
            <a:endParaRPr lang="en-US" sz="1400" dirty="0"/>
          </a:p>
          <a:p>
            <a:pPr marL="0" indent="0" algn="l">
              <a:lnSpc>
                <a:spcPts val="2240"/>
              </a:lnSpc>
              <a:buNone/>
            </a:pPr>
            <a:r>
              <a:rPr lang="en-US" sz="1400" dirty="0">
                <a:solidFill>
                  <a:srgbClr val="F7F5EF"/>
                </a:solidFill>
                <a:latin typeface="JetBrains Mono" pitchFamily="49" charset="0"/>
                <a:ea typeface="JetBrains Mono" pitchFamily="49" charset="-122"/>
                <a:cs typeface="JetBrains Mono" pitchFamily="49" charset="-120"/>
              </a:rPr>
              <a:t>git config --global user.name "Ana Pop"</a:t>
            </a:r>
            <a:endParaRPr lang="en-US" sz="1400" dirty="0"/>
          </a:p>
          <a:p>
            <a:pPr marL="0" indent="0" algn="l">
              <a:lnSpc>
                <a:spcPts val="2240"/>
              </a:lnSpc>
              <a:buNone/>
            </a:pPr>
            <a:r>
              <a:rPr lang="en-US" sz="1400" dirty="0">
                <a:solidFill>
                  <a:srgbClr val="F7F5EF"/>
                </a:solidFill>
                <a:latin typeface="JetBrains Mono" pitchFamily="49" charset="0"/>
                <a:ea typeface="JetBrains Mono" pitchFamily="49" charset="-122"/>
                <a:cs typeface="JetBrains Mono" pitchFamily="49" charset="-120"/>
              </a:rPr>
              <a:t>git config --global user.email "ana@student.ro"</a:t>
            </a:r>
            <a:endParaRPr lang="en-US" sz="1400" dirty="0"/>
          </a:p>
          <a:p>
            <a:pPr marL="0" indent="0" algn="l">
              <a:lnSpc>
                <a:spcPts val="2240"/>
              </a:lnSpc>
              <a:buNone/>
            </a:pPr>
            <a:endParaRPr lang="en-US" sz="1400" dirty="0"/>
          </a:p>
          <a:p>
            <a:pPr marL="0" indent="0" algn="l">
              <a:lnSpc>
                <a:spcPts val="2240"/>
              </a:lnSpc>
              <a:buNone/>
            </a:pPr>
            <a:r>
              <a:rPr lang="en-US" sz="1400" dirty="0">
                <a:solidFill>
                  <a:srgbClr val="A9B8CF"/>
                </a:solidFill>
                <a:latin typeface="JetBrains Mono" pitchFamily="49" charset="0"/>
                <a:ea typeface="JetBrains Mono" pitchFamily="49" charset="-122"/>
                <a:cs typeface="JetBrains Mono" pitchFamily="49" charset="-120"/>
              </a:rPr>
              <a:t># într-un proiect nou</a:t>
            </a:r>
            <a:endParaRPr lang="en-US" sz="1400" dirty="0"/>
          </a:p>
          <a:p>
            <a:pPr marL="0" indent="0" algn="l">
              <a:lnSpc>
                <a:spcPts val="2240"/>
              </a:lnSpc>
              <a:buNone/>
            </a:pPr>
            <a:r>
              <a:rPr lang="en-US" sz="1400" dirty="0">
                <a:solidFill>
                  <a:srgbClr val="F7F5EF"/>
                </a:solidFill>
                <a:latin typeface="JetBrains Mono" pitchFamily="49" charset="0"/>
                <a:ea typeface="JetBrains Mono" pitchFamily="49" charset="-122"/>
                <a:cs typeface="JetBrains Mono" pitchFamily="49" charset="-120"/>
              </a:rPr>
              <a:t>git init</a:t>
            </a:r>
            <a:endParaRPr lang="en-US" sz="1400" dirty="0"/>
          </a:p>
          <a:p>
            <a:pPr marL="0" indent="0" algn="l">
              <a:lnSpc>
                <a:spcPts val="2240"/>
              </a:lnSpc>
              <a:buNone/>
            </a:pPr>
            <a:r>
              <a:rPr lang="en-US" sz="1400" dirty="0">
                <a:solidFill>
                  <a:srgbClr val="F7F5EF"/>
                </a:solidFill>
                <a:latin typeface="JetBrains Mono" pitchFamily="49" charset="0"/>
                <a:ea typeface="JetBrains Mono" pitchFamily="49" charset="-122"/>
                <a:cs typeface="JetBrains Mono" pitchFamily="49" charset="-120"/>
              </a:rPr>
              <a:t>git add .</a:t>
            </a:r>
            <a:endParaRPr lang="en-US" sz="1400" dirty="0"/>
          </a:p>
          <a:p>
            <a:pPr marL="0" indent="0" algn="l">
              <a:lnSpc>
                <a:spcPts val="2240"/>
              </a:lnSpc>
              <a:buNone/>
            </a:pPr>
            <a:r>
              <a:rPr lang="en-US" sz="1400" dirty="0">
                <a:solidFill>
                  <a:srgbClr val="F7F5EF"/>
                </a:solidFill>
                <a:latin typeface="JetBrains Mono" pitchFamily="49" charset="0"/>
                <a:ea typeface="JetBrains Mono" pitchFamily="49" charset="-122"/>
                <a:cs typeface="JetBrains Mono" pitchFamily="49" charset="-120"/>
              </a:rPr>
              <a:t>git commit -m "Primul commit"</a:t>
            </a:r>
            <a:endParaRPr lang="en-US" sz="1400" dirty="0"/>
          </a:p>
          <a:p>
            <a:pPr marL="0" indent="0" algn="l">
              <a:lnSpc>
                <a:spcPts val="2240"/>
              </a:lnSpc>
              <a:buNone/>
            </a:pPr>
            <a:endParaRPr lang="en-US" sz="1400" dirty="0"/>
          </a:p>
          <a:p>
            <a:pPr marL="0" indent="0" algn="l">
              <a:lnSpc>
                <a:spcPts val="2240"/>
              </a:lnSpc>
              <a:buNone/>
            </a:pPr>
            <a:r>
              <a:rPr lang="en-US" sz="1400" dirty="0">
                <a:solidFill>
                  <a:srgbClr val="A9B8CF"/>
                </a:solidFill>
                <a:latin typeface="JetBrains Mono" pitchFamily="49" charset="0"/>
                <a:ea typeface="JetBrains Mono" pitchFamily="49" charset="-122"/>
                <a:cs typeface="JetBrains Mono" pitchFamily="49" charset="-120"/>
              </a:rPr>
              <a:t># sau pornești de la un proiect existent</a:t>
            </a:r>
            <a:endParaRPr lang="en-US" sz="1400" dirty="0"/>
          </a:p>
          <a:p>
            <a:pPr marL="0" indent="0" algn="l">
              <a:lnSpc>
                <a:spcPts val="2240"/>
              </a:lnSpc>
              <a:buNone/>
            </a:pPr>
            <a:r>
              <a:rPr lang="en-US" sz="1400" dirty="0">
                <a:solidFill>
                  <a:srgbClr val="F7F5EF"/>
                </a:solidFill>
                <a:latin typeface="JetBrains Mono" pitchFamily="49" charset="0"/>
                <a:ea typeface="JetBrains Mono" pitchFamily="49" charset="-122"/>
                <a:cs typeface="JetBrains Mono" pitchFamily="49" charset="-120"/>
              </a:rPr>
              <a:t>git clone &lt;adresa-repository-ului&gt;</a:t>
            </a:r>
            <a:endParaRPr lang="en-US" sz="1400" dirty="0"/>
          </a:p>
        </p:txBody>
      </p:sp>
      <p:sp>
        <p:nvSpPr>
          <p:cNvPr id="4" name="Shape 2"/>
          <p:cNvSpPr/>
          <p:nvPr/>
        </p:nvSpPr>
        <p:spPr>
          <a:xfrm>
            <a:off x="7165975" y="1516955"/>
            <a:ext cx="4210050" cy="1087041"/>
          </a:xfrm>
          <a:prstGeom prst="roundRect">
            <a:avLst>
              <a:gd name="adj" fmla="val 9054"/>
            </a:avLst>
          </a:prstGeom>
          <a:solidFill>
            <a:srgbClr val="FFFEFA"/>
          </a:solidFill>
          <a:ln w="6350">
            <a:solidFill>
              <a:srgbClr val="DDD8C8"/>
            </a:solidFill>
            <a:prstDash val="solid"/>
          </a:ln>
        </p:spPr>
      </p:sp>
      <p:sp>
        <p:nvSpPr>
          <p:cNvPr id="5" name="Text 3"/>
          <p:cNvSpPr/>
          <p:nvPr/>
        </p:nvSpPr>
        <p:spPr>
          <a:xfrm>
            <a:off x="7372350" y="1697930"/>
            <a:ext cx="3911219"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01B2D"/>
                </a:solidFill>
                <a:latin typeface="IBM Plex Sans" pitchFamily="34" charset="0"/>
                <a:ea typeface="IBM Plex Sans" pitchFamily="34" charset="-122"/>
                <a:cs typeface="IBM Plex Sans" pitchFamily="34" charset="-120"/>
              </a:rPr>
              <a:t>Instalare</a:t>
            </a:r>
            <a:endParaRPr lang="en-US" sz="1500" dirty="0"/>
          </a:p>
        </p:txBody>
      </p:sp>
      <p:sp>
        <p:nvSpPr>
          <p:cNvPr id="6" name="Text 4"/>
          <p:cNvSpPr/>
          <p:nvPr/>
        </p:nvSpPr>
        <p:spPr>
          <a:xfrm>
            <a:off x="7372350" y="1977330"/>
            <a:ext cx="3911219"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Windows și macOS: git-scm.com</a:t>
            </a:r>
            <a:endParaRPr lang="en-US" sz="1300" dirty="0"/>
          </a:p>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Linux: sudo apt install git</a:t>
            </a:r>
            <a:endParaRPr lang="en-US" sz="1300" dirty="0"/>
          </a:p>
        </p:txBody>
      </p:sp>
      <p:sp>
        <p:nvSpPr>
          <p:cNvPr id="7" name="Shape 5"/>
          <p:cNvSpPr/>
          <p:nvPr/>
        </p:nvSpPr>
        <p:spPr>
          <a:xfrm>
            <a:off x="7165975" y="2762746"/>
            <a:ext cx="4210050" cy="864195"/>
          </a:xfrm>
          <a:prstGeom prst="roundRect">
            <a:avLst>
              <a:gd name="adj" fmla="val 11389"/>
            </a:avLst>
          </a:prstGeom>
          <a:solidFill>
            <a:srgbClr val="FFFEFA"/>
          </a:solidFill>
          <a:ln w="6350">
            <a:solidFill>
              <a:srgbClr val="DDD8C8"/>
            </a:solidFill>
            <a:prstDash val="solid"/>
          </a:ln>
        </p:spPr>
      </p:sp>
      <p:sp>
        <p:nvSpPr>
          <p:cNvPr id="8" name="Text 6"/>
          <p:cNvSpPr/>
          <p:nvPr/>
        </p:nvSpPr>
        <p:spPr>
          <a:xfrm>
            <a:off x="7372350" y="2943721"/>
            <a:ext cx="3911219"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01B2D"/>
                </a:solidFill>
                <a:latin typeface="IBM Plex Sans" pitchFamily="34" charset="0"/>
                <a:ea typeface="IBM Plex Sans" pitchFamily="34" charset="-122"/>
                <a:cs typeface="IBM Plex Sans" pitchFamily="34" charset="-120"/>
              </a:rPr>
              <a:t>Verificare</a:t>
            </a:r>
            <a:endParaRPr lang="en-US" sz="1500" dirty="0"/>
          </a:p>
        </p:txBody>
      </p:sp>
      <p:sp>
        <p:nvSpPr>
          <p:cNvPr id="9" name="Text 7"/>
          <p:cNvSpPr/>
          <p:nvPr/>
        </p:nvSpPr>
        <p:spPr>
          <a:xfrm>
            <a:off x="7372350" y="3223121"/>
            <a:ext cx="3911219" cy="248245"/>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git --version afișează versiunea instalată.</a:t>
            </a:r>
            <a:endParaRPr lang="en-US" sz="1300" dirty="0"/>
          </a:p>
        </p:txBody>
      </p:sp>
      <p:sp>
        <p:nvSpPr>
          <p:cNvPr id="10" name="Shape 8"/>
          <p:cNvSpPr/>
          <p:nvPr/>
        </p:nvSpPr>
        <p:spPr>
          <a:xfrm>
            <a:off x="7165975" y="3785691"/>
            <a:ext cx="4210050" cy="1087041"/>
          </a:xfrm>
          <a:prstGeom prst="roundRect">
            <a:avLst>
              <a:gd name="adj" fmla="val 9054"/>
            </a:avLst>
          </a:prstGeom>
          <a:solidFill>
            <a:srgbClr val="FFFEFA"/>
          </a:solidFill>
          <a:ln w="6350">
            <a:solidFill>
              <a:srgbClr val="DDD8C8"/>
            </a:solidFill>
            <a:prstDash val="solid"/>
          </a:ln>
        </p:spPr>
      </p:sp>
      <p:sp>
        <p:nvSpPr>
          <p:cNvPr id="11" name="Text 9"/>
          <p:cNvSpPr/>
          <p:nvPr/>
        </p:nvSpPr>
        <p:spPr>
          <a:xfrm>
            <a:off x="7372350" y="3966666"/>
            <a:ext cx="3911219"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01B2D"/>
                </a:solidFill>
                <a:latin typeface="IBM Plex Sans" pitchFamily="34" charset="0"/>
                <a:ea typeface="IBM Plex Sans" pitchFamily="34" charset="-122"/>
                <a:cs typeface="IBM Plex Sans" pitchFamily="34" charset="-120"/>
              </a:rPr>
              <a:t>Numele și emailul</a:t>
            </a:r>
            <a:endParaRPr lang="en-US" sz="1500" dirty="0"/>
          </a:p>
        </p:txBody>
      </p:sp>
      <p:sp>
        <p:nvSpPr>
          <p:cNvPr id="12" name="Text 10"/>
          <p:cNvSpPr/>
          <p:nvPr/>
        </p:nvSpPr>
        <p:spPr>
          <a:xfrm>
            <a:off x="7372350" y="4246066"/>
            <a:ext cx="3911219"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Apar pe fiecare commit. Folosește emailul contului de pe platformă.</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p:spPr>
        <p:txBody>
          <a:bodyPr wrap="square" lIns="0" tIns="0" rIns="0" bIns="0" rtlCol="0" anchor="t">
            <a:normAutofit/>
          </a:bodyPr>
          <a:lstStyle/>
          <a:p>
            <a:pPr marL="0" indent="0" algn="l">
              <a:lnSpc>
                <a:spcPts val="3520"/>
              </a:lnSpc>
              <a:buNone/>
            </a:pPr>
            <a:r>
              <a:rPr lang="en-US" sz="3200" b="1" i="0" dirty="0">
                <a:solidFill>
                  <a:srgbClr val="101B2D"/>
                </a:solidFill>
                <a:latin typeface="IBM Plex Sans" pitchFamily="34" charset="0"/>
                <a:ea typeface="IBM Plex Sans" pitchFamily="34" charset="-122"/>
                <a:cs typeface="IBM Plex Sans" pitchFamily="34" charset="-120"/>
              </a:rPr>
              <a:t>Ciclul de lucru zilnic</a:t>
            </a:r>
            <a:endParaRPr lang="en-US" sz="3200" dirty="0"/>
          </a:p>
        </p:txBody>
      </p:sp>
      <p:sp>
        <p:nvSpPr>
          <p:cNvPr id="3" name="Shape 1"/>
          <p:cNvSpPr/>
          <p:nvPr/>
        </p:nvSpPr>
        <p:spPr>
          <a:xfrm>
            <a:off x="812800" y="1860451"/>
            <a:ext cx="10566400" cy="0"/>
          </a:xfrm>
          <a:prstGeom prst="line">
            <a:avLst/>
          </a:prstGeom>
          <a:noFill/>
          <a:ln w="12700">
            <a:solidFill>
              <a:srgbClr val="101B2D"/>
            </a:solidFill>
            <a:prstDash val="solid"/>
          </a:ln>
        </p:spPr>
      </p:sp>
      <p:sp>
        <p:nvSpPr>
          <p:cNvPr id="4" name="Text 2"/>
          <p:cNvSpPr/>
          <p:nvPr/>
        </p:nvSpPr>
        <p:spPr>
          <a:xfrm>
            <a:off x="812800" y="1551880"/>
            <a:ext cx="3401060"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C63A1E"/>
                </a:solidFill>
                <a:latin typeface="IBM Plex Sans" pitchFamily="34" charset="0"/>
                <a:ea typeface="IBM Plex Sans" pitchFamily="34" charset="-122"/>
                <a:cs typeface="IBM Plex Sans" pitchFamily="34" charset="-120"/>
              </a:rPr>
              <a:t>COMANDĂ</a:t>
            </a:r>
            <a:endParaRPr lang="en-US" sz="1200" dirty="0"/>
          </a:p>
        </p:txBody>
      </p:sp>
      <p:sp>
        <p:nvSpPr>
          <p:cNvPr id="5" name="Text 3"/>
          <p:cNvSpPr/>
          <p:nvPr/>
        </p:nvSpPr>
        <p:spPr>
          <a:xfrm>
            <a:off x="4318000" y="1551880"/>
            <a:ext cx="3531870"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C63A1E"/>
                </a:solidFill>
                <a:latin typeface="IBM Plex Sans" pitchFamily="34" charset="0"/>
                <a:ea typeface="IBM Plex Sans" pitchFamily="34" charset="-122"/>
                <a:cs typeface="IBM Plex Sans" pitchFamily="34" charset="-120"/>
              </a:rPr>
              <a:t>CE FACE</a:t>
            </a:r>
            <a:endParaRPr lang="en-US" sz="1200" dirty="0"/>
          </a:p>
        </p:txBody>
      </p:sp>
      <p:sp>
        <p:nvSpPr>
          <p:cNvPr id="6" name="Text 4"/>
          <p:cNvSpPr/>
          <p:nvPr/>
        </p:nvSpPr>
        <p:spPr>
          <a:xfrm>
            <a:off x="7950200" y="1551880"/>
            <a:ext cx="3531870"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C63A1E"/>
                </a:solidFill>
                <a:latin typeface="IBM Plex Sans" pitchFamily="34" charset="0"/>
                <a:ea typeface="IBM Plex Sans" pitchFamily="34" charset="-122"/>
                <a:cs typeface="IBM Plex Sans" pitchFamily="34" charset="-120"/>
              </a:rPr>
              <a:t>CÂND O FOLOSEȘTI</a:t>
            </a:r>
            <a:endParaRPr lang="en-US" sz="1200" dirty="0"/>
          </a:p>
        </p:txBody>
      </p:sp>
      <p:sp>
        <p:nvSpPr>
          <p:cNvPr id="7" name="Shape 5"/>
          <p:cNvSpPr/>
          <p:nvPr/>
        </p:nvSpPr>
        <p:spPr>
          <a:xfrm>
            <a:off x="812800" y="2296616"/>
            <a:ext cx="10566400" cy="0"/>
          </a:xfrm>
          <a:prstGeom prst="line">
            <a:avLst/>
          </a:prstGeom>
          <a:noFill/>
          <a:ln w="6350">
            <a:solidFill>
              <a:srgbClr val="DDD8C8"/>
            </a:solidFill>
            <a:prstDash val="solid"/>
          </a:ln>
        </p:spPr>
      </p:sp>
      <p:sp>
        <p:nvSpPr>
          <p:cNvPr id="8" name="Text 6"/>
          <p:cNvSpPr/>
          <p:nvPr/>
        </p:nvSpPr>
        <p:spPr>
          <a:xfrm>
            <a:off x="812800" y="1955701"/>
            <a:ext cx="340106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01B2D"/>
                </a:solidFill>
                <a:latin typeface="JetBrains Mono" pitchFamily="49" charset="0"/>
                <a:ea typeface="JetBrains Mono" pitchFamily="49" charset="-122"/>
                <a:cs typeface="JetBrains Mono" pitchFamily="49" charset="-120"/>
              </a:rPr>
              <a:t>git status</a:t>
            </a:r>
            <a:endParaRPr lang="en-US" sz="1400" dirty="0"/>
          </a:p>
        </p:txBody>
      </p:sp>
      <p:sp>
        <p:nvSpPr>
          <p:cNvPr id="9" name="Text 7"/>
          <p:cNvSpPr/>
          <p:nvPr/>
        </p:nvSpPr>
        <p:spPr>
          <a:xfrm>
            <a:off x="4318000" y="1955701"/>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01B2D"/>
                </a:solidFill>
                <a:latin typeface="IBM Plex Sans" pitchFamily="34" charset="0"/>
                <a:ea typeface="IBM Plex Sans" pitchFamily="34" charset="-122"/>
                <a:cs typeface="IBM Plex Sans" pitchFamily="34" charset="-120"/>
              </a:rPr>
              <a:t>Arată ce s-a modificat</a:t>
            </a:r>
            <a:endParaRPr lang="en-US" sz="1300" dirty="0"/>
          </a:p>
        </p:txBody>
      </p:sp>
      <p:sp>
        <p:nvSpPr>
          <p:cNvPr id="10" name="Text 8"/>
          <p:cNvSpPr/>
          <p:nvPr/>
        </p:nvSpPr>
        <p:spPr>
          <a:xfrm>
            <a:off x="7950200" y="1955701"/>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5526A"/>
                </a:solidFill>
                <a:latin typeface="IBM Plex Sans" pitchFamily="34" charset="0"/>
                <a:ea typeface="IBM Plex Sans" pitchFamily="34" charset="-122"/>
                <a:cs typeface="IBM Plex Sans" pitchFamily="34" charset="-120"/>
              </a:rPr>
              <a:t>Oricând, înainte de orice</a:t>
            </a:r>
            <a:endParaRPr lang="en-US" sz="1300" dirty="0"/>
          </a:p>
        </p:txBody>
      </p:sp>
      <p:sp>
        <p:nvSpPr>
          <p:cNvPr id="11" name="Shape 9"/>
          <p:cNvSpPr/>
          <p:nvPr/>
        </p:nvSpPr>
        <p:spPr>
          <a:xfrm>
            <a:off x="812800" y="2729607"/>
            <a:ext cx="10566400" cy="0"/>
          </a:xfrm>
          <a:prstGeom prst="line">
            <a:avLst/>
          </a:prstGeom>
          <a:noFill/>
          <a:ln w="6350">
            <a:solidFill>
              <a:srgbClr val="DDD8C8"/>
            </a:solidFill>
            <a:prstDash val="solid"/>
          </a:ln>
        </p:spPr>
      </p:sp>
      <p:sp>
        <p:nvSpPr>
          <p:cNvPr id="12" name="Text 10"/>
          <p:cNvSpPr/>
          <p:nvPr/>
        </p:nvSpPr>
        <p:spPr>
          <a:xfrm>
            <a:off x="812800" y="2388691"/>
            <a:ext cx="340106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01B2D"/>
                </a:solidFill>
                <a:latin typeface="JetBrains Mono" pitchFamily="49" charset="0"/>
                <a:ea typeface="JetBrains Mono" pitchFamily="49" charset="-122"/>
                <a:cs typeface="JetBrains Mono" pitchFamily="49" charset="-120"/>
              </a:rPr>
              <a:t>git add fisier.py</a:t>
            </a:r>
            <a:endParaRPr lang="en-US" sz="1400" dirty="0"/>
          </a:p>
        </p:txBody>
      </p:sp>
      <p:sp>
        <p:nvSpPr>
          <p:cNvPr id="13" name="Text 11"/>
          <p:cNvSpPr/>
          <p:nvPr/>
        </p:nvSpPr>
        <p:spPr>
          <a:xfrm>
            <a:off x="4318000" y="2388691"/>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01B2D"/>
                </a:solidFill>
                <a:latin typeface="IBM Plex Sans" pitchFamily="34" charset="0"/>
                <a:ea typeface="IBM Plex Sans" pitchFamily="34" charset="-122"/>
                <a:cs typeface="IBM Plex Sans" pitchFamily="34" charset="-120"/>
              </a:rPr>
              <a:t>Pune fișierul în staging</a:t>
            </a:r>
            <a:endParaRPr lang="en-US" sz="1300" dirty="0"/>
          </a:p>
        </p:txBody>
      </p:sp>
      <p:sp>
        <p:nvSpPr>
          <p:cNvPr id="14" name="Text 12"/>
          <p:cNvSpPr/>
          <p:nvPr/>
        </p:nvSpPr>
        <p:spPr>
          <a:xfrm>
            <a:off x="7950200" y="2388691"/>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5526A"/>
                </a:solidFill>
                <a:latin typeface="IBM Plex Sans" pitchFamily="34" charset="0"/>
                <a:ea typeface="IBM Plex Sans" pitchFamily="34" charset="-122"/>
                <a:cs typeface="IBM Plex Sans" pitchFamily="34" charset="-120"/>
              </a:rPr>
              <a:t>După ce ai terminat o bucată</a:t>
            </a:r>
            <a:endParaRPr lang="en-US" sz="1300" dirty="0"/>
          </a:p>
        </p:txBody>
      </p:sp>
      <p:sp>
        <p:nvSpPr>
          <p:cNvPr id="15" name="Shape 13"/>
          <p:cNvSpPr/>
          <p:nvPr/>
        </p:nvSpPr>
        <p:spPr>
          <a:xfrm>
            <a:off x="812800" y="3162598"/>
            <a:ext cx="10566400" cy="0"/>
          </a:xfrm>
          <a:prstGeom prst="line">
            <a:avLst/>
          </a:prstGeom>
          <a:noFill/>
          <a:ln w="6350">
            <a:solidFill>
              <a:srgbClr val="DDD8C8"/>
            </a:solidFill>
            <a:prstDash val="solid"/>
          </a:ln>
        </p:spPr>
      </p:sp>
      <p:sp>
        <p:nvSpPr>
          <p:cNvPr id="16" name="Text 14"/>
          <p:cNvSpPr/>
          <p:nvPr/>
        </p:nvSpPr>
        <p:spPr>
          <a:xfrm>
            <a:off x="812800" y="2821682"/>
            <a:ext cx="340106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01B2D"/>
                </a:solidFill>
                <a:latin typeface="JetBrains Mono" pitchFamily="49" charset="0"/>
                <a:ea typeface="JetBrains Mono" pitchFamily="49" charset="-122"/>
                <a:cs typeface="JetBrains Mono" pitchFamily="49" charset="-120"/>
              </a:rPr>
              <a:t>git commit -m "mesaj"</a:t>
            </a:r>
            <a:endParaRPr lang="en-US" sz="1400" dirty="0"/>
          </a:p>
        </p:txBody>
      </p:sp>
      <p:sp>
        <p:nvSpPr>
          <p:cNvPr id="17" name="Text 15"/>
          <p:cNvSpPr/>
          <p:nvPr/>
        </p:nvSpPr>
        <p:spPr>
          <a:xfrm>
            <a:off x="4318000" y="2821682"/>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01B2D"/>
                </a:solidFill>
                <a:latin typeface="IBM Plex Sans" pitchFamily="34" charset="0"/>
                <a:ea typeface="IBM Plex Sans" pitchFamily="34" charset="-122"/>
                <a:cs typeface="IBM Plex Sans" pitchFamily="34" charset="-120"/>
              </a:rPr>
              <a:t>Salvează o versiune în istoric</a:t>
            </a:r>
            <a:endParaRPr lang="en-US" sz="1300" dirty="0"/>
          </a:p>
        </p:txBody>
      </p:sp>
      <p:sp>
        <p:nvSpPr>
          <p:cNvPr id="18" name="Text 16"/>
          <p:cNvSpPr/>
          <p:nvPr/>
        </p:nvSpPr>
        <p:spPr>
          <a:xfrm>
            <a:off x="7950200" y="2821682"/>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5526A"/>
                </a:solidFill>
                <a:latin typeface="IBM Plex Sans" pitchFamily="34" charset="0"/>
                <a:ea typeface="IBM Plex Sans" pitchFamily="34" charset="-122"/>
                <a:cs typeface="IBM Plex Sans" pitchFamily="34" charset="-120"/>
              </a:rPr>
              <a:t>Des: pași mici și clari</a:t>
            </a:r>
            <a:endParaRPr lang="en-US" sz="1300" dirty="0"/>
          </a:p>
        </p:txBody>
      </p:sp>
      <p:sp>
        <p:nvSpPr>
          <p:cNvPr id="19" name="Shape 17"/>
          <p:cNvSpPr/>
          <p:nvPr/>
        </p:nvSpPr>
        <p:spPr>
          <a:xfrm>
            <a:off x="812800" y="3595588"/>
            <a:ext cx="10566400" cy="0"/>
          </a:xfrm>
          <a:prstGeom prst="line">
            <a:avLst/>
          </a:prstGeom>
          <a:noFill/>
          <a:ln w="6350">
            <a:solidFill>
              <a:srgbClr val="DDD8C8"/>
            </a:solidFill>
            <a:prstDash val="solid"/>
          </a:ln>
        </p:spPr>
      </p:sp>
      <p:sp>
        <p:nvSpPr>
          <p:cNvPr id="20" name="Text 18"/>
          <p:cNvSpPr/>
          <p:nvPr/>
        </p:nvSpPr>
        <p:spPr>
          <a:xfrm>
            <a:off x="812800" y="3254673"/>
            <a:ext cx="340106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01B2D"/>
                </a:solidFill>
                <a:latin typeface="JetBrains Mono" pitchFamily="49" charset="0"/>
                <a:ea typeface="JetBrains Mono" pitchFamily="49" charset="-122"/>
                <a:cs typeface="JetBrains Mono" pitchFamily="49" charset="-120"/>
              </a:rPr>
              <a:t>git push</a:t>
            </a:r>
            <a:endParaRPr lang="en-US" sz="1400" dirty="0"/>
          </a:p>
        </p:txBody>
      </p:sp>
      <p:sp>
        <p:nvSpPr>
          <p:cNvPr id="21" name="Text 19"/>
          <p:cNvSpPr/>
          <p:nvPr/>
        </p:nvSpPr>
        <p:spPr>
          <a:xfrm>
            <a:off x="4318000" y="3254673"/>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01B2D"/>
                </a:solidFill>
                <a:latin typeface="IBM Plex Sans" pitchFamily="34" charset="0"/>
                <a:ea typeface="IBM Plex Sans" pitchFamily="34" charset="-122"/>
                <a:cs typeface="IBM Plex Sans" pitchFamily="34" charset="-120"/>
              </a:rPr>
              <a:t>Trimite commit-urile pe remote</a:t>
            </a:r>
            <a:endParaRPr lang="en-US" sz="1300" dirty="0"/>
          </a:p>
        </p:txBody>
      </p:sp>
      <p:sp>
        <p:nvSpPr>
          <p:cNvPr id="22" name="Text 20"/>
          <p:cNvSpPr/>
          <p:nvPr/>
        </p:nvSpPr>
        <p:spPr>
          <a:xfrm>
            <a:off x="7950200" y="3254673"/>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5526A"/>
                </a:solidFill>
                <a:latin typeface="IBM Plex Sans" pitchFamily="34" charset="0"/>
                <a:ea typeface="IBM Plex Sans" pitchFamily="34" charset="-122"/>
                <a:cs typeface="IBM Plex Sans" pitchFamily="34" charset="-120"/>
              </a:rPr>
              <a:t>La finalul sesiunii de lucru</a:t>
            </a:r>
            <a:endParaRPr lang="en-US" sz="1300" dirty="0"/>
          </a:p>
        </p:txBody>
      </p:sp>
      <p:sp>
        <p:nvSpPr>
          <p:cNvPr id="23" name="Shape 21"/>
          <p:cNvSpPr/>
          <p:nvPr/>
        </p:nvSpPr>
        <p:spPr>
          <a:xfrm>
            <a:off x="812800" y="4028579"/>
            <a:ext cx="10566400" cy="0"/>
          </a:xfrm>
          <a:prstGeom prst="line">
            <a:avLst/>
          </a:prstGeom>
          <a:noFill/>
          <a:ln w="6350">
            <a:solidFill>
              <a:srgbClr val="DDD8C8"/>
            </a:solidFill>
            <a:prstDash val="solid"/>
          </a:ln>
        </p:spPr>
      </p:sp>
      <p:sp>
        <p:nvSpPr>
          <p:cNvPr id="24" name="Text 22"/>
          <p:cNvSpPr/>
          <p:nvPr/>
        </p:nvSpPr>
        <p:spPr>
          <a:xfrm>
            <a:off x="812800" y="3687663"/>
            <a:ext cx="340106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01B2D"/>
                </a:solidFill>
                <a:latin typeface="JetBrains Mono" pitchFamily="49" charset="0"/>
                <a:ea typeface="JetBrains Mono" pitchFamily="49" charset="-122"/>
                <a:cs typeface="JetBrains Mono" pitchFamily="49" charset="-120"/>
              </a:rPr>
              <a:t>git pull</a:t>
            </a:r>
            <a:endParaRPr lang="en-US" sz="1400" dirty="0"/>
          </a:p>
        </p:txBody>
      </p:sp>
      <p:sp>
        <p:nvSpPr>
          <p:cNvPr id="25" name="Text 23"/>
          <p:cNvSpPr/>
          <p:nvPr/>
        </p:nvSpPr>
        <p:spPr>
          <a:xfrm>
            <a:off x="4318000" y="3687663"/>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01B2D"/>
                </a:solidFill>
                <a:latin typeface="IBM Plex Sans" pitchFamily="34" charset="0"/>
                <a:ea typeface="IBM Plex Sans" pitchFamily="34" charset="-122"/>
                <a:cs typeface="IBM Plex Sans" pitchFamily="34" charset="-120"/>
              </a:rPr>
              <a:t>Aduce schimbările colegilor</a:t>
            </a:r>
            <a:endParaRPr lang="en-US" sz="1300" dirty="0"/>
          </a:p>
        </p:txBody>
      </p:sp>
      <p:sp>
        <p:nvSpPr>
          <p:cNvPr id="26" name="Text 24"/>
          <p:cNvSpPr/>
          <p:nvPr/>
        </p:nvSpPr>
        <p:spPr>
          <a:xfrm>
            <a:off x="7950200" y="3687663"/>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5526A"/>
                </a:solidFill>
                <a:latin typeface="IBM Plex Sans" pitchFamily="34" charset="0"/>
                <a:ea typeface="IBM Plex Sans" pitchFamily="34" charset="-122"/>
                <a:cs typeface="IBM Plex Sans" pitchFamily="34" charset="-120"/>
              </a:rPr>
              <a:t>La început, înainte să lucrezi</a:t>
            </a:r>
            <a:endParaRPr lang="en-US" sz="1300" dirty="0"/>
          </a:p>
        </p:txBody>
      </p:sp>
      <p:sp>
        <p:nvSpPr>
          <p:cNvPr id="27" name="Shape 25"/>
          <p:cNvSpPr/>
          <p:nvPr/>
        </p:nvSpPr>
        <p:spPr>
          <a:xfrm>
            <a:off x="812800" y="4461570"/>
            <a:ext cx="10566400" cy="0"/>
          </a:xfrm>
          <a:prstGeom prst="line">
            <a:avLst/>
          </a:prstGeom>
          <a:noFill/>
          <a:ln w="6350">
            <a:solidFill>
              <a:srgbClr val="DDD8C8"/>
            </a:solidFill>
            <a:prstDash val="solid"/>
          </a:ln>
        </p:spPr>
      </p:sp>
      <p:sp>
        <p:nvSpPr>
          <p:cNvPr id="28" name="Text 26"/>
          <p:cNvSpPr/>
          <p:nvPr/>
        </p:nvSpPr>
        <p:spPr>
          <a:xfrm>
            <a:off x="812800" y="4120654"/>
            <a:ext cx="340106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01B2D"/>
                </a:solidFill>
                <a:latin typeface="JetBrains Mono" pitchFamily="49" charset="0"/>
                <a:ea typeface="JetBrains Mono" pitchFamily="49" charset="-122"/>
                <a:cs typeface="JetBrains Mono" pitchFamily="49" charset="-120"/>
              </a:rPr>
              <a:t>git log --oneline</a:t>
            </a:r>
            <a:endParaRPr lang="en-US" sz="1400" dirty="0"/>
          </a:p>
        </p:txBody>
      </p:sp>
      <p:sp>
        <p:nvSpPr>
          <p:cNvPr id="29" name="Text 27"/>
          <p:cNvSpPr/>
          <p:nvPr/>
        </p:nvSpPr>
        <p:spPr>
          <a:xfrm>
            <a:off x="4318000" y="4120654"/>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01B2D"/>
                </a:solidFill>
                <a:latin typeface="IBM Plex Sans" pitchFamily="34" charset="0"/>
                <a:ea typeface="IBM Plex Sans" pitchFamily="34" charset="-122"/>
                <a:cs typeface="IBM Plex Sans" pitchFamily="34" charset="-120"/>
              </a:rPr>
              <a:t>Listează istoricul pe scurt</a:t>
            </a:r>
            <a:endParaRPr lang="en-US" sz="1300" dirty="0"/>
          </a:p>
        </p:txBody>
      </p:sp>
      <p:sp>
        <p:nvSpPr>
          <p:cNvPr id="30" name="Text 28"/>
          <p:cNvSpPr/>
          <p:nvPr/>
        </p:nvSpPr>
        <p:spPr>
          <a:xfrm>
            <a:off x="7950200" y="4120654"/>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5526A"/>
                </a:solidFill>
                <a:latin typeface="IBM Plex Sans" pitchFamily="34" charset="0"/>
                <a:ea typeface="IBM Plex Sans" pitchFamily="34" charset="-122"/>
                <a:cs typeface="IBM Plex Sans" pitchFamily="34" charset="-120"/>
              </a:rPr>
              <a:t>Când cauți o versiune</a:t>
            </a:r>
            <a:endParaRPr lang="en-US" sz="1300" dirty="0"/>
          </a:p>
        </p:txBody>
      </p:sp>
      <p:sp>
        <p:nvSpPr>
          <p:cNvPr id="31" name="Shape 29"/>
          <p:cNvSpPr/>
          <p:nvPr/>
        </p:nvSpPr>
        <p:spPr>
          <a:xfrm>
            <a:off x="812800" y="4894560"/>
            <a:ext cx="10566400" cy="0"/>
          </a:xfrm>
          <a:prstGeom prst="line">
            <a:avLst/>
          </a:prstGeom>
          <a:noFill/>
          <a:ln w="6350">
            <a:solidFill>
              <a:srgbClr val="DDD8C8"/>
            </a:solidFill>
            <a:prstDash val="solid"/>
          </a:ln>
        </p:spPr>
      </p:sp>
      <p:sp>
        <p:nvSpPr>
          <p:cNvPr id="32" name="Text 30"/>
          <p:cNvSpPr/>
          <p:nvPr/>
        </p:nvSpPr>
        <p:spPr>
          <a:xfrm>
            <a:off x="812800" y="4553645"/>
            <a:ext cx="3401060" cy="274241"/>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01B2D"/>
                </a:solidFill>
                <a:latin typeface="JetBrains Mono" pitchFamily="49" charset="0"/>
                <a:ea typeface="JetBrains Mono" pitchFamily="49" charset="-122"/>
                <a:cs typeface="JetBrains Mono" pitchFamily="49" charset="-120"/>
              </a:rPr>
              <a:t>git diff</a:t>
            </a:r>
            <a:endParaRPr lang="en-US" sz="1400" dirty="0"/>
          </a:p>
        </p:txBody>
      </p:sp>
      <p:sp>
        <p:nvSpPr>
          <p:cNvPr id="33" name="Text 31"/>
          <p:cNvSpPr/>
          <p:nvPr/>
        </p:nvSpPr>
        <p:spPr>
          <a:xfrm>
            <a:off x="4318000" y="4553645"/>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01B2D"/>
                </a:solidFill>
                <a:latin typeface="IBM Plex Sans" pitchFamily="34" charset="0"/>
                <a:ea typeface="IBM Plex Sans" pitchFamily="34" charset="-122"/>
                <a:cs typeface="IBM Plex Sans" pitchFamily="34" charset="-120"/>
              </a:rPr>
              <a:t>Arată liniile schimbate</a:t>
            </a:r>
            <a:endParaRPr lang="en-US" sz="1300" dirty="0"/>
          </a:p>
        </p:txBody>
      </p:sp>
      <p:sp>
        <p:nvSpPr>
          <p:cNvPr id="34" name="Text 32"/>
          <p:cNvSpPr/>
          <p:nvPr/>
        </p:nvSpPr>
        <p:spPr>
          <a:xfrm>
            <a:off x="7950200" y="4553645"/>
            <a:ext cx="3531870" cy="27424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5526A"/>
                </a:solidFill>
                <a:latin typeface="IBM Plex Sans" pitchFamily="34" charset="0"/>
                <a:ea typeface="IBM Plex Sans" pitchFamily="34" charset="-122"/>
                <a:cs typeface="IBM Plex Sans" pitchFamily="34" charset="-120"/>
              </a:rPr>
              <a:t>Înainte de add sau commit</a:t>
            </a:r>
            <a:endParaRPr lang="en-US" sz="1300" dirty="0"/>
          </a:p>
        </p:txBody>
      </p:sp>
      <p:sp>
        <p:nvSpPr>
          <p:cNvPr id="35" name="Text 33"/>
          <p:cNvSpPr/>
          <p:nvPr/>
        </p:nvSpPr>
        <p:spPr>
          <a:xfrm>
            <a:off x="812800" y="5100935"/>
            <a:ext cx="10883392" cy="273050"/>
          </a:xfrm>
          <a:prstGeom prst="rect">
            <a:avLst/>
          </a:prstGeom>
          <a:noFill/>
        </p:spPr>
        <p:txBody>
          <a:bodyPr wrap="square" lIns="0" tIns="0" rIns="0" bIns="0" rtlCol="0" anchor="t">
            <a:normAutofit/>
          </a:bodyPr>
          <a:lstStyle/>
          <a:p>
            <a:pPr marL="0" indent="0" algn="l">
              <a:lnSpc>
                <a:spcPts val="1950"/>
              </a:lnSpc>
              <a:buNone/>
            </a:pPr>
            <a:r>
              <a:rPr lang="en-US" sz="1500" b="1" dirty="0">
                <a:solidFill>
                  <a:srgbClr val="101B2D"/>
                </a:solidFill>
                <a:latin typeface="IBM Plex Sans" pitchFamily="34" charset="0"/>
                <a:ea typeface="IBM Plex Sans" pitchFamily="34" charset="-122"/>
                <a:cs typeface="IBM Plex Sans" pitchFamily="34" charset="-120"/>
              </a:rPr>
              <a:t>Regula de aur: pull la început, commit des, push la final.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p:spPr>
        <p:txBody>
          <a:bodyPr wrap="square" lIns="0" tIns="0" rIns="0" bIns="0" rtlCol="0" anchor="t">
            <a:normAutofit/>
          </a:bodyPr>
          <a:lstStyle/>
          <a:p>
            <a:pPr marL="0" indent="0" algn="l">
              <a:lnSpc>
                <a:spcPts val="3520"/>
              </a:lnSpc>
              <a:buNone/>
            </a:pPr>
            <a:r>
              <a:rPr lang="en-US" sz="3200" b="1" i="0" dirty="0">
                <a:solidFill>
                  <a:srgbClr val="101B2D"/>
                </a:solidFill>
                <a:latin typeface="IBM Plex Sans" pitchFamily="34" charset="0"/>
                <a:ea typeface="IBM Plex Sans" pitchFamily="34" charset="-122"/>
                <a:cs typeface="IBM Plex Sans" pitchFamily="34" charset="-120"/>
              </a:rPr>
              <a:t>Un branch este o linie paralelă de lucru</a:t>
            </a:r>
            <a:endParaRPr lang="en-US" sz="3200" dirty="0"/>
          </a:p>
        </p:txBody>
      </p:sp>
      <p:sp>
        <p:nvSpPr>
          <p:cNvPr id="3" name="Shape 1"/>
          <p:cNvSpPr/>
          <p:nvPr/>
        </p:nvSpPr>
        <p:spPr>
          <a:xfrm>
            <a:off x="815975" y="1466155"/>
            <a:ext cx="10560050" cy="2533650"/>
          </a:xfrm>
          <a:prstGeom prst="roundRect">
            <a:avLst>
              <a:gd name="adj" fmla="val 3885"/>
            </a:avLst>
          </a:prstGeom>
          <a:solidFill>
            <a:srgbClr val="FFFEFA"/>
          </a:solidFill>
          <a:ln w="6350">
            <a:solidFill>
              <a:srgbClr val="DDD8C8"/>
            </a:solidFill>
            <a:prstDash val="solid"/>
          </a:ln>
        </p:spPr>
      </p:sp>
      <p:pic>
        <p:nvPicPr>
          <p:cNvPr id="4" name="Image 0" descr="Graf de commit-uri: linia main cu cinci commit-uri; din al doilea pleacă branch-ul feature/login cu trei commit-uri, care se unește înapoi în main prin merge"/>
          <p:cNvPicPr>
            <a:picLocks noChangeAspect="1"/>
          </p:cNvPicPr>
          <p:nvPr/>
        </p:nvPicPr>
        <p:blipFill>
          <a:blip r:embed="rId1"/>
          <a:srcRect t="-31" b="-31"/>
          <a:stretch>
            <a:fillRect/>
          </a:stretch>
        </p:blipFill>
        <p:spPr>
          <a:xfrm>
            <a:off x="812800" y="1462980"/>
            <a:ext cx="10566400" cy="2540000"/>
          </a:xfrm>
          <a:prstGeom prst="rect">
            <a:avLst/>
          </a:prstGeom>
        </p:spPr>
      </p:pic>
      <p:sp>
        <p:nvSpPr>
          <p:cNvPr id="5" name="Text 2"/>
          <p:cNvSpPr/>
          <p:nvPr/>
        </p:nvSpPr>
        <p:spPr>
          <a:xfrm>
            <a:off x="5003800" y="1640780"/>
            <a:ext cx="1651000" cy="307280"/>
          </a:xfrm>
          <a:prstGeom prst="roundRect">
            <a:avLst>
              <a:gd name="adj" fmla="val 24798"/>
            </a:avLst>
          </a:prstGeom>
          <a:solidFill>
            <a:srgbClr val="F05033"/>
          </a:solidFill>
        </p:spPr>
        <p:txBody>
          <a:bodyPr wrap="square" lIns="66582" tIns="15782" rIns="66582" bIns="0" rtlCol="0" anchor="t">
            <a:normAutofit/>
          </a:bodyPr>
          <a:lstStyle/>
          <a:p>
            <a:pPr marL="0" indent="0" algn="ctr">
              <a:lnSpc>
                <a:spcPts val="1820"/>
              </a:lnSpc>
              <a:buNone/>
            </a:pPr>
            <a:r>
              <a:rPr lang="en-US" sz="1300" b="1" dirty="0">
                <a:solidFill>
                  <a:srgbClr val="101B2D"/>
                </a:solidFill>
                <a:latin typeface="JetBrains Mono" pitchFamily="49" charset="0"/>
                <a:ea typeface="JetBrains Mono" pitchFamily="49" charset="-122"/>
                <a:cs typeface="JetBrains Mono" pitchFamily="49" charset="-120"/>
              </a:rPr>
              <a:t>feature/login</a:t>
            </a:r>
            <a:endParaRPr lang="en-US" sz="1300" dirty="0"/>
          </a:p>
        </p:txBody>
      </p:sp>
      <p:sp>
        <p:nvSpPr>
          <p:cNvPr id="6" name="Text 3"/>
          <p:cNvSpPr/>
          <p:nvPr/>
        </p:nvSpPr>
        <p:spPr>
          <a:xfrm>
            <a:off x="10210800" y="2732980"/>
            <a:ext cx="762000" cy="307280"/>
          </a:xfrm>
          <a:prstGeom prst="roundRect">
            <a:avLst>
              <a:gd name="adj" fmla="val 24798"/>
            </a:avLst>
          </a:prstGeom>
          <a:solidFill>
            <a:srgbClr val="101B2D"/>
          </a:solidFill>
        </p:spPr>
        <p:txBody>
          <a:bodyPr wrap="square" lIns="66582" tIns="15782" rIns="66582" bIns="0" rtlCol="0" anchor="t">
            <a:normAutofit/>
          </a:bodyPr>
          <a:lstStyle/>
          <a:p>
            <a:pPr marL="0" indent="0" algn="ctr">
              <a:lnSpc>
                <a:spcPts val="1820"/>
              </a:lnSpc>
              <a:buNone/>
            </a:pPr>
            <a:r>
              <a:rPr lang="en-US" sz="1300" b="1" dirty="0">
                <a:solidFill>
                  <a:srgbClr val="F7F5EF"/>
                </a:solidFill>
                <a:latin typeface="JetBrains Mono" pitchFamily="49" charset="0"/>
                <a:ea typeface="JetBrains Mono" pitchFamily="49" charset="-122"/>
                <a:cs typeface="JetBrains Mono" pitchFamily="49" charset="-120"/>
              </a:rPr>
              <a:t>main</a:t>
            </a:r>
            <a:endParaRPr lang="en-US" sz="1300" dirty="0"/>
          </a:p>
        </p:txBody>
      </p:sp>
      <p:sp>
        <p:nvSpPr>
          <p:cNvPr id="7" name="Text 4"/>
          <p:cNvSpPr/>
          <p:nvPr/>
        </p:nvSpPr>
        <p:spPr>
          <a:xfrm>
            <a:off x="1193800" y="2415480"/>
            <a:ext cx="2158365" cy="421481"/>
          </a:xfrm>
          <a:prstGeom prst="rect">
            <a:avLst/>
          </a:prstGeom>
          <a:noFill/>
        </p:spPr>
        <p:txBody>
          <a:bodyPr wrap="square" lIns="0" tIns="0" rIns="0" bIns="0" rtlCol="0" anchor="t">
            <a:normAutofit/>
          </a:bodyPr>
          <a:lstStyle/>
          <a:p>
            <a:pPr marL="0" indent="0" algn="l">
              <a:lnSpc>
                <a:spcPts val="1560"/>
              </a:lnSpc>
              <a:buNone/>
            </a:pPr>
            <a:r>
              <a:rPr lang="en-US" sz="1200" dirty="0">
                <a:solidFill>
                  <a:srgbClr val="45526A"/>
                </a:solidFill>
                <a:latin typeface="IBM Plex Sans" pitchFamily="34" charset="0"/>
                <a:ea typeface="IBM Plex Sans" pitchFamily="34" charset="-122"/>
                <a:cs typeface="IBM Plex Sans" pitchFamily="34" charset="-120"/>
              </a:rPr>
              <a:t>Aici pleacă ramura: creezi branch-ul</a:t>
            </a:r>
            <a:endParaRPr lang="en-US" sz="1200" dirty="0"/>
          </a:p>
        </p:txBody>
      </p:sp>
      <p:sp>
        <p:nvSpPr>
          <p:cNvPr id="8" name="Text 5"/>
          <p:cNvSpPr/>
          <p:nvPr/>
        </p:nvSpPr>
        <p:spPr>
          <a:xfrm>
            <a:off x="8686800" y="2161480"/>
            <a:ext cx="2485390" cy="223441"/>
          </a:xfrm>
          <a:prstGeom prst="rect">
            <a:avLst/>
          </a:prstGeom>
          <a:noFill/>
        </p:spPr>
        <p:txBody>
          <a:bodyPr wrap="square" lIns="0" tIns="0" rIns="0" bIns="0" rtlCol="0" anchor="t">
            <a:normAutofit/>
          </a:bodyPr>
          <a:lstStyle/>
          <a:p>
            <a:pPr marL="0" indent="0" algn="l">
              <a:lnSpc>
                <a:spcPts val="1560"/>
              </a:lnSpc>
              <a:buNone/>
            </a:pPr>
            <a:r>
              <a:rPr lang="en-US" sz="1200" b="1" dirty="0">
                <a:solidFill>
                  <a:srgbClr val="2459C4"/>
                </a:solidFill>
                <a:latin typeface="IBM Plex Sans" pitchFamily="34" charset="0"/>
                <a:ea typeface="IBM Plex Sans" pitchFamily="34" charset="-122"/>
                <a:cs typeface="IBM Plex Sans" pitchFamily="34" charset="-120"/>
              </a:rPr>
              <a:t>Merge: munca revine în main</a:t>
            </a:r>
            <a:endParaRPr lang="en-US" sz="1200" dirty="0"/>
          </a:p>
        </p:txBody>
      </p:sp>
      <p:sp>
        <p:nvSpPr>
          <p:cNvPr id="9" name="Text 6"/>
          <p:cNvSpPr/>
          <p:nvPr/>
        </p:nvSpPr>
        <p:spPr>
          <a:xfrm>
            <a:off x="4319270" y="3558480"/>
            <a:ext cx="3401060" cy="23872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45526A"/>
                </a:solidFill>
                <a:latin typeface="IBM Plex Sans" pitchFamily="34" charset="0"/>
                <a:ea typeface="IBM Plex Sans" pitchFamily="34" charset="-122"/>
                <a:cs typeface="IBM Plex Sans" pitchFamily="34" charset="-120"/>
              </a:rPr>
              <a:t>Între timp, main merge mai departe</a:t>
            </a:r>
            <a:endParaRPr lang="en-US" sz="1200" dirty="0"/>
          </a:p>
        </p:txBody>
      </p:sp>
      <p:sp>
        <p:nvSpPr>
          <p:cNvPr id="10" name="Shape 7"/>
          <p:cNvSpPr/>
          <p:nvPr/>
        </p:nvSpPr>
        <p:spPr>
          <a:xfrm>
            <a:off x="815975" y="4209355"/>
            <a:ext cx="3380284" cy="1102221"/>
          </a:xfrm>
          <a:prstGeom prst="roundRect">
            <a:avLst>
              <a:gd name="adj" fmla="val 8930"/>
            </a:avLst>
          </a:prstGeom>
          <a:noFill/>
          <a:ln w="6350">
            <a:solidFill>
              <a:srgbClr val="DDD8C8"/>
            </a:solidFill>
            <a:prstDash val="solid"/>
          </a:ln>
        </p:spPr>
      </p:sp>
      <p:sp>
        <p:nvSpPr>
          <p:cNvPr id="11" name="Text 8"/>
          <p:cNvSpPr/>
          <p:nvPr/>
        </p:nvSpPr>
        <p:spPr>
          <a:xfrm>
            <a:off x="1022350" y="4390330"/>
            <a:ext cx="3056560" cy="26918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01B2D"/>
                </a:solidFill>
                <a:latin typeface="IBM Plex Sans" pitchFamily="34" charset="0"/>
                <a:ea typeface="IBM Plex Sans" pitchFamily="34" charset="-122"/>
                <a:cs typeface="IBM Plex Sans" pitchFamily="34" charset="-120"/>
              </a:rPr>
              <a:t>main rămâne stabil</a:t>
            </a:r>
            <a:endParaRPr lang="en-US" sz="1600" dirty="0"/>
          </a:p>
        </p:txBody>
      </p:sp>
      <p:sp>
        <p:nvSpPr>
          <p:cNvPr id="12" name="Text 9"/>
          <p:cNvSpPr/>
          <p:nvPr/>
        </p:nvSpPr>
        <p:spPr>
          <a:xfrm>
            <a:off x="1022350" y="4684911"/>
            <a:ext cx="3056560" cy="248245"/>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Acolo stă versiunea care funcționează.</a:t>
            </a:r>
            <a:endParaRPr lang="en-US" sz="1300" dirty="0"/>
          </a:p>
        </p:txBody>
      </p:sp>
      <p:sp>
        <p:nvSpPr>
          <p:cNvPr id="13" name="Shape 10"/>
          <p:cNvSpPr/>
          <p:nvPr/>
        </p:nvSpPr>
        <p:spPr>
          <a:xfrm>
            <a:off x="4405809" y="4209355"/>
            <a:ext cx="3380383" cy="1102221"/>
          </a:xfrm>
          <a:prstGeom prst="roundRect">
            <a:avLst>
              <a:gd name="adj" fmla="val 8930"/>
            </a:avLst>
          </a:prstGeom>
          <a:noFill/>
          <a:ln w="6350">
            <a:solidFill>
              <a:srgbClr val="DDD8C8"/>
            </a:solidFill>
            <a:prstDash val="solid"/>
          </a:ln>
        </p:spPr>
      </p:sp>
      <p:sp>
        <p:nvSpPr>
          <p:cNvPr id="14" name="Text 11"/>
          <p:cNvSpPr/>
          <p:nvPr/>
        </p:nvSpPr>
        <p:spPr>
          <a:xfrm>
            <a:off x="4612184" y="4390330"/>
            <a:ext cx="3056662" cy="26918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01B2D"/>
                </a:solidFill>
                <a:latin typeface="IBM Plex Sans" pitchFamily="34" charset="0"/>
                <a:ea typeface="IBM Plex Sans" pitchFamily="34" charset="-122"/>
                <a:cs typeface="IBM Plex Sans" pitchFamily="34" charset="-120"/>
              </a:rPr>
              <a:t>Experimentezi izolat</a:t>
            </a:r>
            <a:endParaRPr lang="en-US" sz="1600" dirty="0"/>
          </a:p>
        </p:txBody>
      </p:sp>
      <p:sp>
        <p:nvSpPr>
          <p:cNvPr id="15" name="Text 12"/>
          <p:cNvSpPr/>
          <p:nvPr/>
        </p:nvSpPr>
        <p:spPr>
          <a:xfrm>
            <a:off x="4612184" y="4684911"/>
            <a:ext cx="3056662"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Dacă strici ceva pe branch, main nu simte.</a:t>
            </a:r>
            <a:endParaRPr lang="en-US" sz="1300" dirty="0"/>
          </a:p>
        </p:txBody>
      </p:sp>
      <p:sp>
        <p:nvSpPr>
          <p:cNvPr id="16" name="Shape 13"/>
          <p:cNvSpPr/>
          <p:nvPr/>
        </p:nvSpPr>
        <p:spPr>
          <a:xfrm>
            <a:off x="7995741" y="4209355"/>
            <a:ext cx="3380284" cy="1102221"/>
          </a:xfrm>
          <a:prstGeom prst="roundRect">
            <a:avLst>
              <a:gd name="adj" fmla="val 8930"/>
            </a:avLst>
          </a:prstGeom>
          <a:noFill/>
          <a:ln w="6350">
            <a:solidFill>
              <a:srgbClr val="DDD8C8"/>
            </a:solidFill>
            <a:prstDash val="solid"/>
          </a:ln>
        </p:spPr>
      </p:sp>
      <p:sp>
        <p:nvSpPr>
          <p:cNvPr id="17" name="Text 14"/>
          <p:cNvSpPr/>
          <p:nvPr/>
        </p:nvSpPr>
        <p:spPr>
          <a:xfrm>
            <a:off x="8202116" y="4390330"/>
            <a:ext cx="3056560" cy="26918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01B2D"/>
                </a:solidFill>
                <a:latin typeface="IBM Plex Sans" pitchFamily="34" charset="0"/>
                <a:ea typeface="IBM Plex Sans" pitchFamily="34" charset="-122"/>
                <a:cs typeface="IBM Plex Sans" pitchFamily="34" charset="-120"/>
              </a:rPr>
              <a:t>Un branch pe sarcină</a:t>
            </a:r>
            <a:endParaRPr lang="en-US" sz="1600" dirty="0"/>
          </a:p>
        </p:txBody>
      </p:sp>
      <p:sp>
        <p:nvSpPr>
          <p:cNvPr id="18" name="Text 15"/>
          <p:cNvSpPr/>
          <p:nvPr/>
        </p:nvSpPr>
        <p:spPr>
          <a:xfrm>
            <a:off x="8202116" y="4684911"/>
            <a:ext cx="3056560" cy="248245"/>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Fiecare coleg, pe ramura lui, în paralel.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p:spPr>
        <p:txBody>
          <a:bodyPr wrap="square" lIns="0" tIns="0" rIns="0" bIns="0" rtlCol="0" anchor="t">
            <a:normAutofit/>
          </a:bodyPr>
          <a:lstStyle/>
          <a:p>
            <a:pPr marL="0" indent="0" algn="l">
              <a:lnSpc>
                <a:spcPts val="3520"/>
              </a:lnSpc>
              <a:buNone/>
            </a:pPr>
            <a:r>
              <a:rPr lang="en-US" sz="3200" b="1" i="0" dirty="0">
                <a:solidFill>
                  <a:srgbClr val="101B2D"/>
                </a:solidFill>
                <a:latin typeface="IBM Plex Sans" pitchFamily="34" charset="0"/>
                <a:ea typeface="IBM Plex Sans" pitchFamily="34" charset="-122"/>
                <a:cs typeface="IBM Plex Sans" pitchFamily="34" charset="-120"/>
              </a:rPr>
              <a:t>Branching în cinci pași</a:t>
            </a:r>
            <a:endParaRPr lang="en-US" sz="3200" dirty="0"/>
          </a:p>
        </p:txBody>
      </p:sp>
      <p:sp>
        <p:nvSpPr>
          <p:cNvPr id="3" name="Text 1"/>
          <p:cNvSpPr/>
          <p:nvPr/>
        </p:nvSpPr>
        <p:spPr>
          <a:xfrm>
            <a:off x="812800" y="1518841"/>
            <a:ext cx="406400" cy="41652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C63A1E"/>
                </a:solidFill>
                <a:latin typeface="IBM Plex Sans" pitchFamily="34" charset="0"/>
                <a:ea typeface="IBM Plex Sans" pitchFamily="34" charset="-122"/>
                <a:cs typeface="IBM Plex Sans" pitchFamily="34" charset="-120"/>
              </a:rPr>
              <a:t>1</a:t>
            </a:r>
            <a:endParaRPr lang="en-US" sz="2200" dirty="0"/>
          </a:p>
        </p:txBody>
      </p:sp>
      <p:sp>
        <p:nvSpPr>
          <p:cNvPr id="4" name="Text 2"/>
          <p:cNvSpPr/>
          <p:nvPr/>
        </p:nvSpPr>
        <p:spPr>
          <a:xfrm>
            <a:off x="1346200" y="1462980"/>
            <a:ext cx="5080000" cy="502841"/>
          </a:xfrm>
          <a:prstGeom prst="roundRect">
            <a:avLst>
              <a:gd name="adj" fmla="val 15154"/>
            </a:avLst>
          </a:prstGeom>
          <a:solidFill>
            <a:srgbClr val="101B2D"/>
          </a:solidFill>
        </p:spPr>
        <p:txBody>
          <a:bodyPr wrap="square" lIns="155482" tIns="104682" rIns="13750" bIns="79282" rtlCol="0" anchor="t">
            <a:normAutofit/>
          </a:bodyPr>
          <a:lstStyle/>
          <a:p>
            <a:pPr marL="0" indent="0" algn="l">
              <a:lnSpc>
                <a:spcPts val="1960"/>
              </a:lnSpc>
              <a:buNone/>
            </a:pPr>
            <a:r>
              <a:rPr lang="en-US" sz="1400" dirty="0">
                <a:solidFill>
                  <a:srgbClr val="F7F5EF"/>
                </a:solidFill>
                <a:latin typeface="JetBrains Mono" pitchFamily="49" charset="0"/>
                <a:ea typeface="JetBrains Mono" pitchFamily="49" charset="-122"/>
                <a:cs typeface="JetBrains Mono" pitchFamily="49" charset="-120"/>
              </a:rPr>
              <a:t>git switch -c feature/login</a:t>
            </a:r>
            <a:endParaRPr lang="en-US" sz="1400" dirty="0"/>
          </a:p>
        </p:txBody>
      </p:sp>
      <p:sp>
        <p:nvSpPr>
          <p:cNvPr id="5" name="Text 3"/>
          <p:cNvSpPr/>
          <p:nvPr/>
        </p:nvSpPr>
        <p:spPr>
          <a:xfrm>
            <a:off x="6604000" y="1598811"/>
            <a:ext cx="4918456" cy="256480"/>
          </a:xfrm>
          <a:prstGeom prst="rect">
            <a:avLst/>
          </a:prstGeom>
          <a:noFill/>
        </p:spPr>
        <p:txBody>
          <a:bodyPr wrap="square" lIns="0" tIns="0" rIns="0" bIns="0" rtlCol="0" anchor="t">
            <a:normAutofit/>
          </a:bodyPr>
          <a:lstStyle/>
          <a:p>
            <a:pPr marL="0" indent="0" algn="l">
              <a:lnSpc>
                <a:spcPts val="1820"/>
              </a:lnSpc>
              <a:buNone/>
            </a:pPr>
            <a:r>
              <a:rPr lang="en-US" sz="1400" dirty="0">
                <a:solidFill>
                  <a:srgbClr val="101B2D"/>
                </a:solidFill>
                <a:latin typeface="IBM Plex Sans" pitchFamily="34" charset="0"/>
                <a:ea typeface="IBM Plex Sans" pitchFamily="34" charset="-122"/>
                <a:cs typeface="IBM Plex Sans" pitchFamily="34" charset="-120"/>
              </a:rPr>
              <a:t>Creezi un branch nou și treci pe el</a:t>
            </a:r>
            <a:endParaRPr lang="en-US" sz="1400" dirty="0"/>
          </a:p>
        </p:txBody>
      </p:sp>
      <p:sp>
        <p:nvSpPr>
          <p:cNvPr id="6" name="Text 4"/>
          <p:cNvSpPr/>
          <p:nvPr/>
        </p:nvSpPr>
        <p:spPr>
          <a:xfrm>
            <a:off x="812800" y="2135981"/>
            <a:ext cx="406400" cy="41652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C63A1E"/>
                </a:solidFill>
                <a:latin typeface="IBM Plex Sans" pitchFamily="34" charset="0"/>
                <a:ea typeface="IBM Plex Sans" pitchFamily="34" charset="-122"/>
                <a:cs typeface="IBM Plex Sans" pitchFamily="34" charset="-120"/>
              </a:rPr>
              <a:t>2</a:t>
            </a:r>
            <a:endParaRPr lang="en-US" sz="2200" dirty="0"/>
          </a:p>
        </p:txBody>
      </p:sp>
      <p:sp>
        <p:nvSpPr>
          <p:cNvPr id="7" name="Text 5"/>
          <p:cNvSpPr/>
          <p:nvPr/>
        </p:nvSpPr>
        <p:spPr>
          <a:xfrm>
            <a:off x="1346200" y="2080121"/>
            <a:ext cx="5080000" cy="502841"/>
          </a:xfrm>
          <a:prstGeom prst="roundRect">
            <a:avLst>
              <a:gd name="adj" fmla="val 15154"/>
            </a:avLst>
          </a:prstGeom>
          <a:solidFill>
            <a:srgbClr val="101B2D"/>
          </a:solidFill>
        </p:spPr>
        <p:txBody>
          <a:bodyPr wrap="square" lIns="155482" tIns="104682" rIns="13750" bIns="79282" rtlCol="0" anchor="t">
            <a:normAutofit/>
          </a:bodyPr>
          <a:lstStyle/>
          <a:p>
            <a:pPr marL="0" indent="0" algn="l">
              <a:lnSpc>
                <a:spcPts val="1960"/>
              </a:lnSpc>
              <a:buNone/>
            </a:pPr>
            <a:r>
              <a:rPr lang="en-US" sz="1400" dirty="0">
                <a:solidFill>
                  <a:srgbClr val="F7F5EF"/>
                </a:solidFill>
                <a:latin typeface="JetBrains Mono" pitchFamily="49" charset="0"/>
                <a:ea typeface="JetBrains Mono" pitchFamily="49" charset="-122"/>
                <a:cs typeface="JetBrains Mono" pitchFamily="49" charset="-120"/>
              </a:rPr>
              <a:t>git add . &amp;&amp; git commit -m "Login"</a:t>
            </a:r>
            <a:endParaRPr lang="en-US" sz="1400" dirty="0"/>
          </a:p>
        </p:txBody>
      </p:sp>
      <p:sp>
        <p:nvSpPr>
          <p:cNvPr id="8" name="Text 6"/>
          <p:cNvSpPr/>
          <p:nvPr/>
        </p:nvSpPr>
        <p:spPr>
          <a:xfrm>
            <a:off x="6604000" y="2215952"/>
            <a:ext cx="4918456" cy="256480"/>
          </a:xfrm>
          <a:prstGeom prst="rect">
            <a:avLst/>
          </a:prstGeom>
          <a:noFill/>
        </p:spPr>
        <p:txBody>
          <a:bodyPr wrap="square" lIns="0" tIns="0" rIns="0" bIns="0" rtlCol="0" anchor="t">
            <a:normAutofit/>
          </a:bodyPr>
          <a:lstStyle/>
          <a:p>
            <a:pPr marL="0" indent="0" algn="l">
              <a:lnSpc>
                <a:spcPts val="1820"/>
              </a:lnSpc>
              <a:buNone/>
            </a:pPr>
            <a:r>
              <a:rPr lang="en-US" sz="1400" dirty="0">
                <a:solidFill>
                  <a:srgbClr val="101B2D"/>
                </a:solidFill>
                <a:latin typeface="IBM Plex Sans" pitchFamily="34" charset="0"/>
                <a:ea typeface="IBM Plex Sans" pitchFamily="34" charset="-122"/>
                <a:cs typeface="IBM Plex Sans" pitchFamily="34" charset="-120"/>
              </a:rPr>
              <a:t>Lucrezi și salvezi ca de obicei</a:t>
            </a:r>
            <a:endParaRPr lang="en-US" sz="1400" dirty="0"/>
          </a:p>
        </p:txBody>
      </p:sp>
      <p:sp>
        <p:nvSpPr>
          <p:cNvPr id="9" name="Text 7"/>
          <p:cNvSpPr/>
          <p:nvPr/>
        </p:nvSpPr>
        <p:spPr>
          <a:xfrm>
            <a:off x="812800" y="2753122"/>
            <a:ext cx="406400" cy="41652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C63A1E"/>
                </a:solidFill>
                <a:latin typeface="IBM Plex Sans" pitchFamily="34" charset="0"/>
                <a:ea typeface="IBM Plex Sans" pitchFamily="34" charset="-122"/>
                <a:cs typeface="IBM Plex Sans" pitchFamily="34" charset="-120"/>
              </a:rPr>
              <a:t>3</a:t>
            </a:r>
            <a:endParaRPr lang="en-US" sz="2200" dirty="0"/>
          </a:p>
        </p:txBody>
      </p:sp>
      <p:sp>
        <p:nvSpPr>
          <p:cNvPr id="10" name="Text 8"/>
          <p:cNvSpPr/>
          <p:nvPr/>
        </p:nvSpPr>
        <p:spPr>
          <a:xfrm>
            <a:off x="1346200" y="2697262"/>
            <a:ext cx="5080000" cy="502841"/>
          </a:xfrm>
          <a:prstGeom prst="roundRect">
            <a:avLst>
              <a:gd name="adj" fmla="val 15154"/>
            </a:avLst>
          </a:prstGeom>
          <a:solidFill>
            <a:srgbClr val="101B2D"/>
          </a:solidFill>
        </p:spPr>
        <p:txBody>
          <a:bodyPr wrap="square" lIns="155482" tIns="104682" rIns="13750" bIns="79282" rtlCol="0" anchor="t">
            <a:normAutofit/>
          </a:bodyPr>
          <a:lstStyle/>
          <a:p>
            <a:pPr marL="0" indent="0" algn="l">
              <a:lnSpc>
                <a:spcPts val="1960"/>
              </a:lnSpc>
              <a:buNone/>
            </a:pPr>
            <a:r>
              <a:rPr lang="en-US" sz="1400" dirty="0">
                <a:solidFill>
                  <a:srgbClr val="F7F5EF"/>
                </a:solidFill>
                <a:latin typeface="JetBrains Mono" pitchFamily="49" charset="0"/>
                <a:ea typeface="JetBrains Mono" pitchFamily="49" charset="-122"/>
                <a:cs typeface="JetBrains Mono" pitchFamily="49" charset="-120"/>
              </a:rPr>
              <a:t>git switch main &amp;&amp; git pull</a:t>
            </a:r>
            <a:endParaRPr lang="en-US" sz="1400" dirty="0"/>
          </a:p>
        </p:txBody>
      </p:sp>
      <p:sp>
        <p:nvSpPr>
          <p:cNvPr id="11" name="Text 9"/>
          <p:cNvSpPr/>
          <p:nvPr/>
        </p:nvSpPr>
        <p:spPr>
          <a:xfrm>
            <a:off x="6604000" y="2833092"/>
            <a:ext cx="4918456" cy="256480"/>
          </a:xfrm>
          <a:prstGeom prst="rect">
            <a:avLst/>
          </a:prstGeom>
          <a:noFill/>
        </p:spPr>
        <p:txBody>
          <a:bodyPr wrap="square" lIns="0" tIns="0" rIns="0" bIns="0" rtlCol="0" anchor="t">
            <a:normAutofit/>
          </a:bodyPr>
          <a:lstStyle/>
          <a:p>
            <a:pPr marL="0" indent="0" algn="l">
              <a:lnSpc>
                <a:spcPts val="1820"/>
              </a:lnSpc>
              <a:buNone/>
            </a:pPr>
            <a:r>
              <a:rPr lang="en-US" sz="1400" dirty="0">
                <a:solidFill>
                  <a:srgbClr val="101B2D"/>
                </a:solidFill>
                <a:latin typeface="IBM Plex Sans" pitchFamily="34" charset="0"/>
                <a:ea typeface="IBM Plex Sans" pitchFamily="34" charset="-122"/>
                <a:cs typeface="IBM Plex Sans" pitchFamily="34" charset="-120"/>
              </a:rPr>
              <a:t>Te întorci pe main și îl aduci la zi</a:t>
            </a:r>
            <a:endParaRPr lang="en-US" sz="1400" dirty="0"/>
          </a:p>
        </p:txBody>
      </p:sp>
      <p:sp>
        <p:nvSpPr>
          <p:cNvPr id="12" name="Text 10"/>
          <p:cNvSpPr/>
          <p:nvPr/>
        </p:nvSpPr>
        <p:spPr>
          <a:xfrm>
            <a:off x="812800" y="3370263"/>
            <a:ext cx="406400" cy="41652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C63A1E"/>
                </a:solidFill>
                <a:latin typeface="IBM Plex Sans" pitchFamily="34" charset="0"/>
                <a:ea typeface="IBM Plex Sans" pitchFamily="34" charset="-122"/>
                <a:cs typeface="IBM Plex Sans" pitchFamily="34" charset="-120"/>
              </a:rPr>
              <a:t>4</a:t>
            </a:r>
            <a:endParaRPr lang="en-US" sz="2200" dirty="0"/>
          </a:p>
        </p:txBody>
      </p:sp>
      <p:sp>
        <p:nvSpPr>
          <p:cNvPr id="13" name="Text 11"/>
          <p:cNvSpPr/>
          <p:nvPr/>
        </p:nvSpPr>
        <p:spPr>
          <a:xfrm>
            <a:off x="1346200" y="3314402"/>
            <a:ext cx="5080000" cy="502841"/>
          </a:xfrm>
          <a:prstGeom prst="roundRect">
            <a:avLst>
              <a:gd name="adj" fmla="val 15154"/>
            </a:avLst>
          </a:prstGeom>
          <a:solidFill>
            <a:srgbClr val="101B2D"/>
          </a:solidFill>
        </p:spPr>
        <p:txBody>
          <a:bodyPr wrap="square" lIns="155482" tIns="104682" rIns="13750" bIns="79282" rtlCol="0" anchor="t">
            <a:normAutofit/>
          </a:bodyPr>
          <a:lstStyle/>
          <a:p>
            <a:pPr marL="0" indent="0" algn="l">
              <a:lnSpc>
                <a:spcPts val="1960"/>
              </a:lnSpc>
              <a:buNone/>
            </a:pPr>
            <a:r>
              <a:rPr lang="en-US" sz="1400" dirty="0">
                <a:solidFill>
                  <a:srgbClr val="F7F5EF"/>
                </a:solidFill>
                <a:latin typeface="JetBrains Mono" pitchFamily="49" charset="0"/>
                <a:ea typeface="JetBrains Mono" pitchFamily="49" charset="-122"/>
                <a:cs typeface="JetBrains Mono" pitchFamily="49" charset="-120"/>
              </a:rPr>
              <a:t>git merge feature/login</a:t>
            </a:r>
            <a:endParaRPr lang="en-US" sz="1400" dirty="0"/>
          </a:p>
        </p:txBody>
      </p:sp>
      <p:sp>
        <p:nvSpPr>
          <p:cNvPr id="14" name="Text 12"/>
          <p:cNvSpPr/>
          <p:nvPr/>
        </p:nvSpPr>
        <p:spPr>
          <a:xfrm>
            <a:off x="6604000" y="3450233"/>
            <a:ext cx="4918456" cy="256480"/>
          </a:xfrm>
          <a:prstGeom prst="rect">
            <a:avLst/>
          </a:prstGeom>
          <a:noFill/>
        </p:spPr>
        <p:txBody>
          <a:bodyPr wrap="square" lIns="0" tIns="0" rIns="0" bIns="0" rtlCol="0" anchor="t">
            <a:normAutofit/>
          </a:bodyPr>
          <a:lstStyle/>
          <a:p>
            <a:pPr marL="0" indent="0" algn="l">
              <a:lnSpc>
                <a:spcPts val="1820"/>
              </a:lnSpc>
              <a:buNone/>
            </a:pPr>
            <a:r>
              <a:rPr lang="en-US" sz="1400" dirty="0">
                <a:solidFill>
                  <a:srgbClr val="101B2D"/>
                </a:solidFill>
                <a:latin typeface="IBM Plex Sans" pitchFamily="34" charset="0"/>
                <a:ea typeface="IBM Plex Sans" pitchFamily="34" charset="-122"/>
                <a:cs typeface="IBM Plex Sans" pitchFamily="34" charset="-120"/>
              </a:rPr>
              <a:t>Aduci munca de pe branch în main</a:t>
            </a:r>
            <a:endParaRPr lang="en-US" sz="1400" dirty="0"/>
          </a:p>
        </p:txBody>
      </p:sp>
      <p:sp>
        <p:nvSpPr>
          <p:cNvPr id="15" name="Text 13"/>
          <p:cNvSpPr/>
          <p:nvPr/>
        </p:nvSpPr>
        <p:spPr>
          <a:xfrm>
            <a:off x="812800" y="3987403"/>
            <a:ext cx="406400" cy="41652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C63A1E"/>
                </a:solidFill>
                <a:latin typeface="IBM Plex Sans" pitchFamily="34" charset="0"/>
                <a:ea typeface="IBM Plex Sans" pitchFamily="34" charset="-122"/>
                <a:cs typeface="IBM Plex Sans" pitchFamily="34" charset="-120"/>
              </a:rPr>
              <a:t>5</a:t>
            </a:r>
            <a:endParaRPr lang="en-US" sz="2200" dirty="0"/>
          </a:p>
        </p:txBody>
      </p:sp>
      <p:sp>
        <p:nvSpPr>
          <p:cNvPr id="16" name="Text 14"/>
          <p:cNvSpPr/>
          <p:nvPr/>
        </p:nvSpPr>
        <p:spPr>
          <a:xfrm>
            <a:off x="1346200" y="3931543"/>
            <a:ext cx="5080000" cy="502841"/>
          </a:xfrm>
          <a:prstGeom prst="roundRect">
            <a:avLst>
              <a:gd name="adj" fmla="val 15154"/>
            </a:avLst>
          </a:prstGeom>
          <a:solidFill>
            <a:srgbClr val="101B2D"/>
          </a:solidFill>
        </p:spPr>
        <p:txBody>
          <a:bodyPr wrap="square" lIns="155482" tIns="104682" rIns="13750" bIns="79282" rtlCol="0" anchor="t">
            <a:normAutofit/>
          </a:bodyPr>
          <a:lstStyle/>
          <a:p>
            <a:pPr marL="0" indent="0" algn="l">
              <a:lnSpc>
                <a:spcPts val="1960"/>
              </a:lnSpc>
              <a:buNone/>
            </a:pPr>
            <a:r>
              <a:rPr lang="en-US" sz="1400" dirty="0">
                <a:solidFill>
                  <a:srgbClr val="F7F5EF"/>
                </a:solidFill>
                <a:latin typeface="JetBrains Mono" pitchFamily="49" charset="0"/>
                <a:ea typeface="JetBrains Mono" pitchFamily="49" charset="-122"/>
                <a:cs typeface="JetBrains Mono" pitchFamily="49" charset="-120"/>
              </a:rPr>
              <a:t>git push &amp;&amp; git branch -d feature/login</a:t>
            </a:r>
            <a:endParaRPr lang="en-US" sz="1400" dirty="0"/>
          </a:p>
        </p:txBody>
      </p:sp>
      <p:sp>
        <p:nvSpPr>
          <p:cNvPr id="17" name="Text 15"/>
          <p:cNvSpPr/>
          <p:nvPr/>
        </p:nvSpPr>
        <p:spPr>
          <a:xfrm>
            <a:off x="6604000" y="4067373"/>
            <a:ext cx="4918456" cy="256480"/>
          </a:xfrm>
          <a:prstGeom prst="rect">
            <a:avLst/>
          </a:prstGeom>
          <a:noFill/>
        </p:spPr>
        <p:txBody>
          <a:bodyPr wrap="square" lIns="0" tIns="0" rIns="0" bIns="0" rtlCol="0" anchor="t">
            <a:normAutofit/>
          </a:bodyPr>
          <a:lstStyle/>
          <a:p>
            <a:pPr marL="0" indent="0" algn="l">
              <a:lnSpc>
                <a:spcPts val="1820"/>
              </a:lnSpc>
              <a:buNone/>
            </a:pPr>
            <a:r>
              <a:rPr lang="en-US" sz="1400" dirty="0">
                <a:solidFill>
                  <a:srgbClr val="101B2D"/>
                </a:solidFill>
                <a:latin typeface="IBM Plex Sans" pitchFamily="34" charset="0"/>
                <a:ea typeface="IBM Plex Sans" pitchFamily="34" charset="-122"/>
                <a:cs typeface="IBM Plex Sans" pitchFamily="34" charset="-120"/>
              </a:rPr>
              <a:t>Publici și ștergi branch-ul terminat</a:t>
            </a:r>
            <a:endParaRPr lang="en-US" sz="1400" dirty="0"/>
          </a:p>
        </p:txBody>
      </p:sp>
      <p:sp>
        <p:nvSpPr>
          <p:cNvPr id="18" name="Text 16"/>
          <p:cNvSpPr/>
          <p:nvPr/>
        </p:nvSpPr>
        <p:spPr>
          <a:xfrm>
            <a:off x="812800" y="4637584"/>
            <a:ext cx="10883392" cy="265410"/>
          </a:xfrm>
          <a:prstGeom prst="rect">
            <a:avLst/>
          </a:prstGeom>
          <a:noFill/>
        </p:spPr>
        <p:txBody>
          <a:bodyPr wrap="square" lIns="0" tIns="0" rIns="0" bIns="0" rtlCol="0" anchor="t">
            <a:normAutofit/>
          </a:bodyPr>
          <a:lstStyle/>
          <a:p>
            <a:pPr marL="0" indent="0" algn="l">
              <a:lnSpc>
                <a:spcPts val="1890"/>
              </a:lnSpc>
              <a:buNone/>
            </a:pPr>
            <a:r>
              <a:rPr lang="en-US" sz="1400" dirty="0">
                <a:solidFill>
                  <a:srgbClr val="45526A"/>
                </a:solidFill>
                <a:latin typeface="IBM Plex Sans" pitchFamily="34" charset="0"/>
                <a:ea typeface="IBM Plex Sans" pitchFamily="34" charset="-122"/>
                <a:cs typeface="IBM Plex Sans" pitchFamily="34" charset="-120"/>
              </a:rPr>
              <a:t>Te-ai rătăcit? </a:t>
            </a:r>
            <a:r>
              <a:rPr lang="en-US" sz="1400" b="1" dirty="0">
                <a:solidFill>
                  <a:srgbClr val="45526A"/>
                </a:solidFill>
                <a:latin typeface="IBM Plex Sans" pitchFamily="34" charset="0"/>
                <a:ea typeface="IBM Plex Sans" pitchFamily="34" charset="-122"/>
                <a:cs typeface="IBM Plex Sans" pitchFamily="34" charset="-120"/>
              </a:rPr>
              <a:t>git branch</a:t>
            </a:r>
            <a:r>
              <a:rPr lang="en-US" sz="1400" dirty="0">
                <a:solidFill>
                  <a:srgbClr val="45526A"/>
                </a:solidFill>
                <a:latin typeface="IBM Plex Sans" pitchFamily="34" charset="0"/>
                <a:ea typeface="IBM Plex Sans" pitchFamily="34" charset="-122"/>
                <a:cs typeface="IBM Plex Sans" pitchFamily="34" charset="-120"/>
              </a:rPr>
              <a:t> listează ramurile, iar cea curentă e marcată cu o steluță.</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p:spPr>
        <p:txBody>
          <a:bodyPr wrap="square" lIns="0" tIns="0" rIns="0" bIns="0" rtlCol="0" anchor="t">
            <a:normAutofit/>
          </a:bodyPr>
          <a:lstStyle/>
          <a:p>
            <a:pPr marL="0" indent="0" algn="l">
              <a:lnSpc>
                <a:spcPts val="3520"/>
              </a:lnSpc>
              <a:buNone/>
            </a:pPr>
            <a:r>
              <a:rPr lang="en-US" sz="3200" b="1" i="0" dirty="0">
                <a:solidFill>
                  <a:srgbClr val="101B2D"/>
                </a:solidFill>
                <a:latin typeface="IBM Plex Sans" pitchFamily="34" charset="0"/>
                <a:ea typeface="IBM Plex Sans" pitchFamily="34" charset="-122"/>
                <a:cs typeface="IBM Plex Sans" pitchFamily="34" charset="-120"/>
              </a:rPr>
              <a:t>Conflictul la merge este o întrebare</a:t>
            </a:r>
            <a:endParaRPr lang="en-US" sz="3200" dirty="0"/>
          </a:p>
        </p:txBody>
      </p:sp>
      <p:sp>
        <p:nvSpPr>
          <p:cNvPr id="3" name="Shape 1"/>
          <p:cNvSpPr/>
          <p:nvPr/>
        </p:nvSpPr>
        <p:spPr>
          <a:xfrm>
            <a:off x="812800" y="1513780"/>
            <a:ext cx="5207000" cy="3040261"/>
          </a:xfrm>
          <a:prstGeom prst="roundRect">
            <a:avLst>
              <a:gd name="adj" fmla="val 3342"/>
            </a:avLst>
          </a:prstGeom>
          <a:solidFill>
            <a:srgbClr val="101B2D"/>
          </a:solidFill>
        </p:spPr>
      </p:sp>
      <p:sp>
        <p:nvSpPr>
          <p:cNvPr id="4" name="Text 2"/>
          <p:cNvSpPr/>
          <p:nvPr/>
        </p:nvSpPr>
        <p:spPr>
          <a:xfrm>
            <a:off x="1066800" y="1767780"/>
            <a:ext cx="4839970" cy="238720"/>
          </a:xfrm>
          <a:prstGeom prst="rect">
            <a:avLst/>
          </a:prstGeom>
          <a:noFill/>
        </p:spPr>
        <p:txBody>
          <a:bodyPr wrap="square" lIns="0" tIns="0" rIns="0" bIns="0" rtlCol="0" anchor="t">
            <a:normAutofit/>
          </a:bodyPr>
          <a:lstStyle/>
          <a:p>
            <a:pPr marL="0" indent="0" algn="l">
              <a:lnSpc>
                <a:spcPts val="1680"/>
              </a:lnSpc>
              <a:buNone/>
            </a:pPr>
            <a:r>
              <a:rPr lang="en-US" sz="1200" kern="0" spc="100" dirty="0">
                <a:solidFill>
                  <a:srgbClr val="A9B8CF"/>
                </a:solidFill>
                <a:latin typeface="IBM Plex Sans" pitchFamily="34" charset="0"/>
                <a:ea typeface="IBM Plex Sans" pitchFamily="34" charset="-122"/>
                <a:cs typeface="IBM Plex Sans" pitchFamily="34" charset="-120"/>
              </a:rPr>
              <a:t>SALUT.PY, DUPĂ GIT MERGE</a:t>
            </a:r>
            <a:endParaRPr lang="en-US" sz="1200" dirty="0"/>
          </a:p>
        </p:txBody>
      </p:sp>
      <p:sp>
        <p:nvSpPr>
          <p:cNvPr id="5" name="Text 3"/>
          <p:cNvSpPr/>
          <p:nvPr/>
        </p:nvSpPr>
        <p:spPr>
          <a:xfrm>
            <a:off x="1066800" y="2108101"/>
            <a:ext cx="4839970" cy="1644650"/>
          </a:xfrm>
          <a:prstGeom prst="rect">
            <a:avLst/>
          </a:prstGeom>
          <a:noFill/>
        </p:spPr>
        <p:txBody>
          <a:bodyPr wrap="square" lIns="0" tIns="0" rIns="0" bIns="0" rtlCol="0" anchor="t">
            <a:normAutofit/>
          </a:bodyPr>
          <a:lstStyle/>
          <a:p>
            <a:pPr marL="0" indent="0" algn="l">
              <a:lnSpc>
                <a:spcPts val="2550"/>
              </a:lnSpc>
              <a:buNone/>
            </a:pPr>
            <a:r>
              <a:rPr lang="en-US" sz="1500" dirty="0">
                <a:solidFill>
                  <a:srgbClr val="F05033"/>
                </a:solidFill>
                <a:latin typeface="JetBrains Mono" pitchFamily="49" charset="0"/>
                <a:ea typeface="JetBrains Mono" pitchFamily="49" charset="-122"/>
                <a:cs typeface="JetBrains Mono" pitchFamily="49" charset="-120"/>
              </a:rPr>
              <a:t>&lt;&lt;&lt;&lt;&lt;&lt;&lt; HEAD</a:t>
            </a:r>
            <a:endParaRPr lang="en-US" sz="1500" dirty="0"/>
          </a:p>
          <a:p>
            <a:pPr marL="0" indent="0" algn="l">
              <a:lnSpc>
                <a:spcPts val="2550"/>
              </a:lnSpc>
              <a:buNone/>
            </a:pPr>
            <a:r>
              <a:rPr lang="en-US" sz="1500" dirty="0">
                <a:solidFill>
                  <a:srgbClr val="F7F5EF"/>
                </a:solidFill>
                <a:latin typeface="JetBrains Mono" pitchFamily="49" charset="0"/>
                <a:ea typeface="JetBrains Mono" pitchFamily="49" charset="-122"/>
                <a:cs typeface="JetBrains Mono" pitchFamily="49" charset="-120"/>
              </a:rPr>
              <a:t>print("Salut, lume!")</a:t>
            </a:r>
            <a:endParaRPr lang="en-US" sz="1500" dirty="0"/>
          </a:p>
          <a:p>
            <a:pPr marL="0" indent="0" algn="l">
              <a:lnSpc>
                <a:spcPts val="2550"/>
              </a:lnSpc>
              <a:buNone/>
            </a:pPr>
            <a:r>
              <a:rPr lang="en-US" sz="1500" dirty="0">
                <a:solidFill>
                  <a:srgbClr val="F05033"/>
                </a:solidFill>
                <a:latin typeface="JetBrains Mono" pitchFamily="49" charset="0"/>
                <a:ea typeface="JetBrains Mono" pitchFamily="49" charset="-122"/>
                <a:cs typeface="JetBrains Mono" pitchFamily="49" charset="-120"/>
              </a:rPr>
              <a:t>=======</a:t>
            </a:r>
            <a:endParaRPr lang="en-US" sz="1500" dirty="0"/>
          </a:p>
          <a:p>
            <a:pPr marL="0" indent="0" algn="l">
              <a:lnSpc>
                <a:spcPts val="2550"/>
              </a:lnSpc>
              <a:buNone/>
            </a:pPr>
            <a:r>
              <a:rPr lang="en-US" sz="1500" dirty="0">
                <a:solidFill>
                  <a:srgbClr val="F7F5EF"/>
                </a:solidFill>
                <a:latin typeface="JetBrains Mono" pitchFamily="49" charset="0"/>
                <a:ea typeface="JetBrains Mono" pitchFamily="49" charset="-122"/>
                <a:cs typeface="JetBrains Mono" pitchFamily="49" charset="-120"/>
              </a:rPr>
              <a:t>print("Hello, world!")</a:t>
            </a:r>
            <a:endParaRPr lang="en-US" sz="1500" dirty="0"/>
          </a:p>
          <a:p>
            <a:pPr marL="0" indent="0" algn="l">
              <a:lnSpc>
                <a:spcPts val="2550"/>
              </a:lnSpc>
              <a:buNone/>
            </a:pPr>
            <a:r>
              <a:rPr lang="en-US" sz="1500" dirty="0">
                <a:solidFill>
                  <a:srgbClr val="F05033"/>
                </a:solidFill>
                <a:latin typeface="JetBrains Mono" pitchFamily="49" charset="0"/>
                <a:ea typeface="JetBrains Mono" pitchFamily="49" charset="-122"/>
                <a:cs typeface="JetBrains Mono" pitchFamily="49" charset="-120"/>
              </a:rPr>
              <a:t>&gt;&gt;&gt;&gt;&gt;&gt;&gt; feature/login</a:t>
            </a:r>
            <a:endParaRPr lang="en-US" sz="1500" dirty="0"/>
          </a:p>
        </p:txBody>
      </p:sp>
      <p:sp>
        <p:nvSpPr>
          <p:cNvPr id="6" name="Text 4"/>
          <p:cNvSpPr/>
          <p:nvPr/>
        </p:nvSpPr>
        <p:spPr>
          <a:xfrm>
            <a:off x="1066800" y="3854351"/>
            <a:ext cx="4839970"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A9B8CF"/>
                </a:solidFill>
                <a:latin typeface="IBM Plex Sans" pitchFamily="34" charset="0"/>
                <a:ea typeface="IBM Plex Sans" pitchFamily="34" charset="-122"/>
                <a:cs typeface="IBM Plex Sans" pitchFamily="34" charset="-120"/>
              </a:rPr>
              <a:t>Sus: varianta de pe branch-ul tău curent. Jos: varianta care vine din celălalt branch.</a:t>
            </a:r>
            <a:endParaRPr lang="en-US" sz="1300" dirty="0"/>
          </a:p>
        </p:txBody>
      </p:sp>
      <p:sp>
        <p:nvSpPr>
          <p:cNvPr id="7" name="Shape 5"/>
          <p:cNvSpPr/>
          <p:nvPr/>
        </p:nvSpPr>
        <p:spPr>
          <a:xfrm>
            <a:off x="6276975" y="1516955"/>
            <a:ext cx="5099050" cy="702270"/>
          </a:xfrm>
          <a:prstGeom prst="roundRect">
            <a:avLst>
              <a:gd name="adj" fmla="val 14015"/>
            </a:avLst>
          </a:prstGeom>
          <a:solidFill>
            <a:srgbClr val="FFFEFA"/>
          </a:solidFill>
          <a:ln w="6350">
            <a:solidFill>
              <a:srgbClr val="DDD8C8"/>
            </a:solidFill>
            <a:prstDash val="solid"/>
          </a:ln>
        </p:spPr>
      </p:sp>
      <p:sp>
        <p:nvSpPr>
          <p:cNvPr id="8" name="Text 6"/>
          <p:cNvSpPr/>
          <p:nvPr/>
        </p:nvSpPr>
        <p:spPr>
          <a:xfrm>
            <a:off x="6457950" y="1672530"/>
            <a:ext cx="330200" cy="41652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C63A1E"/>
                </a:solidFill>
                <a:latin typeface="IBM Plex Sans" pitchFamily="34" charset="0"/>
                <a:ea typeface="IBM Plex Sans" pitchFamily="34" charset="-122"/>
                <a:cs typeface="IBM Plex Sans" pitchFamily="34" charset="-120"/>
              </a:rPr>
              <a:t>1</a:t>
            </a:r>
            <a:endParaRPr lang="en-US" sz="2200" dirty="0"/>
          </a:p>
        </p:txBody>
      </p:sp>
      <p:sp>
        <p:nvSpPr>
          <p:cNvPr id="9" name="Text 7"/>
          <p:cNvSpPr/>
          <p:nvPr/>
        </p:nvSpPr>
        <p:spPr>
          <a:xfrm>
            <a:off x="6889750" y="1752501"/>
            <a:ext cx="4434459" cy="256480"/>
          </a:xfrm>
          <a:prstGeom prst="rect">
            <a:avLst/>
          </a:prstGeom>
          <a:noFill/>
        </p:spPr>
        <p:txBody>
          <a:bodyPr wrap="square" lIns="0" tIns="0" rIns="0" bIns="0" rtlCol="0" anchor="t">
            <a:normAutofit/>
          </a:bodyPr>
          <a:lstStyle/>
          <a:p>
            <a:pPr marL="0" indent="0" algn="l">
              <a:lnSpc>
                <a:spcPts val="1820"/>
              </a:lnSpc>
              <a:buNone/>
            </a:pPr>
            <a:r>
              <a:rPr lang="en-US" sz="1400" dirty="0">
                <a:solidFill>
                  <a:srgbClr val="101B2D"/>
                </a:solidFill>
                <a:latin typeface="IBM Plex Sans" pitchFamily="34" charset="0"/>
                <a:ea typeface="IBM Plex Sans" pitchFamily="34" charset="-122"/>
                <a:cs typeface="IBM Plex Sans" pitchFamily="34" charset="-120"/>
              </a:rPr>
              <a:t>Deschizi fișierul semnalat de Git</a:t>
            </a:r>
            <a:endParaRPr lang="en-US" sz="1400" dirty="0"/>
          </a:p>
        </p:txBody>
      </p:sp>
      <p:sp>
        <p:nvSpPr>
          <p:cNvPr id="10" name="Shape 8"/>
          <p:cNvSpPr/>
          <p:nvPr/>
        </p:nvSpPr>
        <p:spPr>
          <a:xfrm>
            <a:off x="6276975" y="2352576"/>
            <a:ext cx="5099050" cy="773311"/>
          </a:xfrm>
          <a:prstGeom prst="roundRect">
            <a:avLst>
              <a:gd name="adj" fmla="val 12728"/>
            </a:avLst>
          </a:prstGeom>
          <a:solidFill>
            <a:srgbClr val="FFFEFA"/>
          </a:solidFill>
          <a:ln w="6350">
            <a:solidFill>
              <a:srgbClr val="DDD8C8"/>
            </a:solidFill>
            <a:prstDash val="solid"/>
          </a:ln>
        </p:spPr>
      </p:sp>
      <p:sp>
        <p:nvSpPr>
          <p:cNvPr id="11" name="Text 9"/>
          <p:cNvSpPr/>
          <p:nvPr/>
        </p:nvSpPr>
        <p:spPr>
          <a:xfrm>
            <a:off x="6457950" y="2543671"/>
            <a:ext cx="330200" cy="41652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C63A1E"/>
                </a:solidFill>
                <a:latin typeface="IBM Plex Sans" pitchFamily="34" charset="0"/>
                <a:ea typeface="IBM Plex Sans" pitchFamily="34" charset="-122"/>
                <a:cs typeface="IBM Plex Sans" pitchFamily="34" charset="-120"/>
              </a:rPr>
              <a:t>2</a:t>
            </a:r>
            <a:endParaRPr lang="en-US" sz="2200" dirty="0"/>
          </a:p>
        </p:txBody>
      </p:sp>
      <p:sp>
        <p:nvSpPr>
          <p:cNvPr id="12" name="Text 10"/>
          <p:cNvSpPr/>
          <p:nvPr/>
        </p:nvSpPr>
        <p:spPr>
          <a:xfrm>
            <a:off x="6889750" y="2508151"/>
            <a:ext cx="4434459" cy="487561"/>
          </a:xfrm>
          <a:prstGeom prst="rect">
            <a:avLst/>
          </a:prstGeom>
          <a:noFill/>
        </p:spPr>
        <p:txBody>
          <a:bodyPr wrap="square" lIns="0" tIns="0" rIns="0" bIns="0" rtlCol="0" anchor="t">
            <a:normAutofit/>
          </a:bodyPr>
          <a:lstStyle/>
          <a:p>
            <a:pPr marL="0" indent="0" algn="l">
              <a:lnSpc>
                <a:spcPts val="1820"/>
              </a:lnSpc>
              <a:buNone/>
            </a:pPr>
            <a:r>
              <a:rPr lang="en-US" sz="1400" dirty="0">
                <a:solidFill>
                  <a:srgbClr val="101B2D"/>
                </a:solidFill>
                <a:latin typeface="IBM Plex Sans" pitchFamily="34" charset="0"/>
                <a:ea typeface="IBM Plex Sans" pitchFamily="34" charset="-122"/>
                <a:cs typeface="IBM Plex Sans" pitchFamily="34" charset="-120"/>
              </a:rPr>
              <a:t>Păstrezi varianta bună (sau le combini) și ștergi cele trei marcaje</a:t>
            </a:r>
            <a:endParaRPr lang="en-US" sz="1400" dirty="0"/>
          </a:p>
        </p:txBody>
      </p:sp>
      <p:sp>
        <p:nvSpPr>
          <p:cNvPr id="13" name="Shape 11"/>
          <p:cNvSpPr/>
          <p:nvPr/>
        </p:nvSpPr>
        <p:spPr>
          <a:xfrm>
            <a:off x="6276975" y="3259237"/>
            <a:ext cx="5099050" cy="702270"/>
          </a:xfrm>
          <a:prstGeom prst="roundRect">
            <a:avLst>
              <a:gd name="adj" fmla="val 14015"/>
            </a:avLst>
          </a:prstGeom>
          <a:solidFill>
            <a:srgbClr val="FFFEFA"/>
          </a:solidFill>
          <a:ln w="6350">
            <a:solidFill>
              <a:srgbClr val="DDD8C8"/>
            </a:solidFill>
            <a:prstDash val="solid"/>
          </a:ln>
        </p:spPr>
      </p:sp>
      <p:sp>
        <p:nvSpPr>
          <p:cNvPr id="14" name="Text 12"/>
          <p:cNvSpPr/>
          <p:nvPr/>
        </p:nvSpPr>
        <p:spPr>
          <a:xfrm>
            <a:off x="6457950" y="3414812"/>
            <a:ext cx="330200" cy="41652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C63A1E"/>
                </a:solidFill>
                <a:latin typeface="IBM Plex Sans" pitchFamily="34" charset="0"/>
                <a:ea typeface="IBM Plex Sans" pitchFamily="34" charset="-122"/>
                <a:cs typeface="IBM Plex Sans" pitchFamily="34" charset="-120"/>
              </a:rPr>
              <a:t>3</a:t>
            </a:r>
            <a:endParaRPr lang="en-US" sz="2200" dirty="0"/>
          </a:p>
        </p:txBody>
      </p:sp>
      <p:sp>
        <p:nvSpPr>
          <p:cNvPr id="15" name="Text 13"/>
          <p:cNvSpPr/>
          <p:nvPr/>
        </p:nvSpPr>
        <p:spPr>
          <a:xfrm>
            <a:off x="6889750" y="3494782"/>
            <a:ext cx="4434459" cy="256480"/>
          </a:xfrm>
          <a:prstGeom prst="rect">
            <a:avLst/>
          </a:prstGeom>
          <a:noFill/>
        </p:spPr>
        <p:txBody>
          <a:bodyPr wrap="square" lIns="0" tIns="0" rIns="0" bIns="0" rtlCol="0" anchor="t">
            <a:normAutofit/>
          </a:bodyPr>
          <a:lstStyle/>
          <a:p>
            <a:pPr marL="0" indent="0" algn="l">
              <a:lnSpc>
                <a:spcPts val="1820"/>
              </a:lnSpc>
              <a:buNone/>
            </a:pPr>
            <a:r>
              <a:rPr lang="en-US" sz="1400" b="1" dirty="0">
                <a:solidFill>
                  <a:srgbClr val="101B2D"/>
                </a:solidFill>
                <a:latin typeface="IBM Plex Sans" pitchFamily="34" charset="0"/>
                <a:ea typeface="IBM Plex Sans" pitchFamily="34" charset="-122"/>
                <a:cs typeface="IBM Plex Sans" pitchFamily="34" charset="-120"/>
              </a:rPr>
              <a:t>git add salut.py</a:t>
            </a:r>
            <a:r>
              <a:rPr lang="en-US" sz="1400" dirty="0">
                <a:solidFill>
                  <a:srgbClr val="101B2D"/>
                </a:solidFill>
                <a:latin typeface="IBM Plex Sans" pitchFamily="34" charset="0"/>
                <a:ea typeface="IBM Plex Sans" pitchFamily="34" charset="-122"/>
                <a:cs typeface="IBM Plex Sans" pitchFamily="34" charset="-120"/>
              </a:rPr>
              <a:t>, apoi </a:t>
            </a:r>
            <a:r>
              <a:rPr lang="en-US" sz="1400" b="1" dirty="0">
                <a:solidFill>
                  <a:srgbClr val="101B2D"/>
                </a:solidFill>
                <a:latin typeface="IBM Plex Sans" pitchFamily="34" charset="0"/>
                <a:ea typeface="IBM Plex Sans" pitchFamily="34" charset="-122"/>
                <a:cs typeface="IBM Plex Sans" pitchFamily="34" charset="-120"/>
              </a:rPr>
              <a:t>git commit</a:t>
            </a:r>
            <a:endParaRPr lang="en-US" sz="1400" dirty="0"/>
          </a:p>
        </p:txBody>
      </p:sp>
      <p:sp>
        <p:nvSpPr>
          <p:cNvPr id="16" name="Text 14"/>
          <p:cNvSpPr/>
          <p:nvPr/>
        </p:nvSpPr>
        <p:spPr>
          <a:xfrm>
            <a:off x="6273800" y="4091682"/>
            <a:ext cx="5258562" cy="471091"/>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45526A"/>
                </a:solidFill>
                <a:latin typeface="IBM Plex Sans" pitchFamily="34" charset="0"/>
                <a:ea typeface="IBM Plex Sans" pitchFamily="34" charset="-122"/>
                <a:cs typeface="IBM Plex Sans" pitchFamily="34" charset="-120"/>
              </a:rPr>
              <a:t>Apare doar când doi oameni au schimbat aceeași linie. Git nu ghicește: te întreabă pe tine.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p:spPr>
        <p:txBody>
          <a:bodyPr wrap="square" lIns="0" tIns="0" rIns="0" bIns="0" rtlCol="0" anchor="t">
            <a:normAutofit/>
          </a:bodyPr>
          <a:lstStyle/>
          <a:p>
            <a:pPr marL="0" indent="0" algn="l">
              <a:lnSpc>
                <a:spcPts val="3520"/>
              </a:lnSpc>
              <a:buNone/>
            </a:pPr>
            <a:r>
              <a:rPr lang="en-US" sz="3200" b="1" i="0" dirty="0">
                <a:solidFill>
                  <a:srgbClr val="101B2D"/>
                </a:solidFill>
                <a:latin typeface="IBM Plex Sans" pitchFamily="34" charset="0"/>
                <a:ea typeface="IBM Plex Sans" pitchFamily="34" charset="-122"/>
                <a:cs typeface="IBM Plex Sans" pitchFamily="34" charset="-120"/>
              </a:rPr>
              <a:t>Git e unealta, platforma e locul de întâlnire</a:t>
            </a:r>
            <a:endParaRPr lang="en-US" sz="3200" dirty="0"/>
          </a:p>
        </p:txBody>
      </p:sp>
      <p:sp>
        <p:nvSpPr>
          <p:cNvPr id="3" name="Text 1"/>
          <p:cNvSpPr/>
          <p:nvPr/>
        </p:nvSpPr>
        <p:spPr>
          <a:xfrm>
            <a:off x="812800" y="1488380"/>
            <a:ext cx="10883392" cy="282575"/>
          </a:xfrm>
          <a:prstGeom prst="rect">
            <a:avLst/>
          </a:prstGeom>
          <a:noFill/>
        </p:spPr>
        <p:txBody>
          <a:bodyPr wrap="square" lIns="0" tIns="0" rIns="0" bIns="0" rtlCol="0" anchor="t">
            <a:normAutofit/>
          </a:bodyPr>
          <a:lstStyle/>
          <a:p>
            <a:pPr marL="0" indent="0" algn="l">
              <a:lnSpc>
                <a:spcPts val="2025"/>
              </a:lnSpc>
              <a:buNone/>
            </a:pPr>
            <a:r>
              <a:rPr lang="en-US" sz="1500" dirty="0">
                <a:solidFill>
                  <a:srgbClr val="45526A"/>
                </a:solidFill>
                <a:latin typeface="IBM Plex Sans" pitchFamily="34" charset="0"/>
                <a:ea typeface="IBM Plex Sans" pitchFamily="34" charset="-122"/>
                <a:cs typeface="IBM Plex Sans" pitchFamily="34" charset="-120"/>
              </a:rPr>
              <a:t>Toate trei găzduiesc repository-ul remote și adaugă colaborare peste Git. Comenzile rămân aceleași.</a:t>
            </a:r>
            <a:endParaRPr lang="en-US" sz="1500" dirty="0"/>
          </a:p>
        </p:txBody>
      </p:sp>
      <p:sp>
        <p:nvSpPr>
          <p:cNvPr id="4" name="Shape 2"/>
          <p:cNvSpPr/>
          <p:nvPr/>
        </p:nvSpPr>
        <p:spPr>
          <a:xfrm>
            <a:off x="812800" y="1974155"/>
            <a:ext cx="3378200" cy="2146002"/>
          </a:xfrm>
          <a:prstGeom prst="roundRect">
            <a:avLst>
              <a:gd name="adj" fmla="val 4734"/>
            </a:avLst>
          </a:prstGeom>
          <a:solidFill>
            <a:srgbClr val="101B2D"/>
          </a:solidFill>
        </p:spPr>
      </p:sp>
      <p:sp>
        <p:nvSpPr>
          <p:cNvPr id="5" name="Text 3"/>
          <p:cNvSpPr/>
          <p:nvPr/>
        </p:nvSpPr>
        <p:spPr>
          <a:xfrm>
            <a:off x="1041400" y="2202755"/>
            <a:ext cx="3008630" cy="360660"/>
          </a:xfrm>
          <a:prstGeom prst="rect">
            <a:avLst/>
          </a:prstGeom>
          <a:noFill/>
        </p:spPr>
        <p:txBody>
          <a:bodyPr wrap="square" lIns="0" tIns="0" rIns="0" bIns="0" rtlCol="0" anchor="t">
            <a:normAutofit/>
          </a:bodyPr>
          <a:lstStyle/>
          <a:p>
            <a:pPr marL="0" indent="0" algn="l">
              <a:lnSpc>
                <a:spcPts val="2640"/>
              </a:lnSpc>
              <a:buNone/>
            </a:pPr>
            <a:r>
              <a:rPr lang="en-US" sz="2200" b="1" dirty="0">
                <a:solidFill>
                  <a:srgbClr val="F7F5EF"/>
                </a:solidFill>
                <a:latin typeface="IBM Plex Sans" pitchFamily="34" charset="0"/>
                <a:ea typeface="IBM Plex Sans" pitchFamily="34" charset="-122"/>
                <a:cs typeface="IBM Plex Sans" pitchFamily="34" charset="-120"/>
              </a:rPr>
              <a:t>GitHub</a:t>
            </a:r>
            <a:endParaRPr lang="en-US" sz="2200" dirty="0"/>
          </a:p>
        </p:txBody>
      </p:sp>
      <p:sp>
        <p:nvSpPr>
          <p:cNvPr id="6" name="Text 4"/>
          <p:cNvSpPr/>
          <p:nvPr/>
        </p:nvSpPr>
        <p:spPr>
          <a:xfrm>
            <a:off x="1041400" y="2639616"/>
            <a:ext cx="3008630" cy="238720"/>
          </a:xfrm>
          <a:prstGeom prst="rect">
            <a:avLst/>
          </a:prstGeom>
          <a:noFill/>
        </p:spPr>
        <p:txBody>
          <a:bodyPr wrap="square" lIns="0" tIns="0" rIns="0" bIns="0" rtlCol="0" anchor="t">
            <a:normAutofit/>
          </a:bodyPr>
          <a:lstStyle/>
          <a:p>
            <a:pPr marL="0" indent="0" algn="l">
              <a:lnSpc>
                <a:spcPts val="1680"/>
              </a:lnSpc>
              <a:buNone/>
            </a:pPr>
            <a:r>
              <a:rPr lang="en-US" sz="1200" b="1" kern="0" spc="50" dirty="0">
                <a:solidFill>
                  <a:srgbClr val="F05033"/>
                </a:solidFill>
                <a:latin typeface="IBM Plex Sans" pitchFamily="34" charset="0"/>
                <a:ea typeface="IBM Plex Sans" pitchFamily="34" charset="-122"/>
                <a:cs typeface="IBM Plex Sans" pitchFamily="34" charset="-120"/>
              </a:rPr>
              <a:t>CEA MAI MARE COMUNITATE</a:t>
            </a:r>
            <a:endParaRPr lang="en-US" sz="1200" dirty="0"/>
          </a:p>
        </p:txBody>
      </p:sp>
      <p:sp>
        <p:nvSpPr>
          <p:cNvPr id="7" name="Text 5"/>
          <p:cNvSpPr/>
          <p:nvPr/>
        </p:nvSpPr>
        <p:spPr>
          <a:xfrm>
            <a:off x="1126744" y="2954536"/>
            <a:ext cx="2915666" cy="949722"/>
          </a:xfrm>
          <a:prstGeom prst="rect">
            <a:avLst/>
          </a:prstGeom>
          <a:noFill/>
        </p:spPr>
        <p:txBody>
          <a:bodyPr wrap="square" lIns="0" tIns="0" rIns="0" bIns="0" rtlCol="0" anchor="t">
            <a:normAutofit/>
          </a:bodyPr>
          <a:lstStyle/>
          <a:p>
            <a:pPr marL="168910" indent="-168910" algn="l">
              <a:lnSpc>
                <a:spcPts val="1820"/>
              </a:lnSpc>
              <a:buSzPct val="100000"/>
              <a:buChar char="•"/>
            </a:pPr>
            <a:r>
              <a:rPr lang="en-US" sz="1300" dirty="0">
                <a:solidFill>
                  <a:srgbClr val="F7F5EF"/>
                </a:solidFill>
                <a:latin typeface="IBM Plex Sans" pitchFamily="34" charset="0"/>
                <a:ea typeface="IBM Plex Sans" pitchFamily="34" charset="-122"/>
                <a:cs typeface="IBM Plex Sans" pitchFamily="34" charset="-120"/>
              </a:rPr>
              <a:t>Casa proiectelor open source</a:t>
            </a:r>
            <a:endParaRPr lang="en-US" sz="1300" dirty="0"/>
          </a:p>
          <a:p>
            <a:pPr marL="168910" indent="-168910" algn="l">
              <a:lnSpc>
                <a:spcPts val="1820"/>
              </a:lnSpc>
              <a:buSzPct val="100000"/>
              <a:buChar char="•"/>
            </a:pPr>
            <a:r>
              <a:rPr lang="en-US" sz="1300" dirty="0">
                <a:solidFill>
                  <a:srgbClr val="F7F5EF"/>
                </a:solidFill>
                <a:latin typeface="IBM Plex Sans" pitchFamily="34" charset="0"/>
                <a:ea typeface="IBM Plex Sans" pitchFamily="34" charset="-122"/>
                <a:cs typeface="IBM Plex Sans" pitchFamily="34" charset="-120"/>
              </a:rPr>
              <a:t>Pull requests, Issues, Actions</a:t>
            </a:r>
            <a:endParaRPr lang="en-US" sz="1300" dirty="0"/>
          </a:p>
          <a:p>
            <a:pPr marL="168910" indent="-168910" algn="l">
              <a:lnSpc>
                <a:spcPts val="1820"/>
              </a:lnSpc>
              <a:buSzPct val="100000"/>
              <a:buChar char="•"/>
            </a:pPr>
            <a:r>
              <a:rPr lang="en-US" sz="1300" dirty="0">
                <a:solidFill>
                  <a:srgbClr val="F7F5EF"/>
                </a:solidFill>
                <a:latin typeface="IBM Plex Sans" pitchFamily="34" charset="0"/>
                <a:ea typeface="IBM Plex Sans" pitchFamily="34" charset="-122"/>
                <a:cs typeface="IBM Plex Sans" pitchFamily="34" charset="-120"/>
              </a:rPr>
              <a:t>Pachet gratuit pentru studenți</a:t>
            </a:r>
            <a:endParaRPr lang="en-US" sz="1300" dirty="0"/>
          </a:p>
          <a:p>
            <a:pPr marL="168910" indent="-168910" algn="l">
              <a:lnSpc>
                <a:spcPts val="1820"/>
              </a:lnSpc>
              <a:buSzPct val="100000"/>
              <a:buChar char="•"/>
            </a:pPr>
            <a:r>
              <a:rPr lang="en-US" sz="1300" dirty="0">
                <a:solidFill>
                  <a:srgbClr val="F7F5EF"/>
                </a:solidFill>
                <a:latin typeface="IBM Plex Sans" pitchFamily="34" charset="0"/>
                <a:ea typeface="IBM Plex Sans" pitchFamily="34" charset="-122"/>
                <a:cs typeface="IBM Plex Sans" pitchFamily="34" charset="-120"/>
              </a:rPr>
              <a:t>Portofoliul tău public de cod</a:t>
            </a:r>
            <a:endParaRPr lang="en-US" sz="1300" dirty="0"/>
          </a:p>
        </p:txBody>
      </p:sp>
      <p:sp>
        <p:nvSpPr>
          <p:cNvPr id="8" name="Shape 6"/>
          <p:cNvSpPr/>
          <p:nvPr/>
        </p:nvSpPr>
        <p:spPr>
          <a:xfrm>
            <a:off x="4397375" y="1977330"/>
            <a:ext cx="3384550" cy="2139652"/>
          </a:xfrm>
          <a:prstGeom prst="roundRect">
            <a:avLst>
              <a:gd name="adj" fmla="val 4600"/>
            </a:avLst>
          </a:prstGeom>
          <a:solidFill>
            <a:srgbClr val="FFFEFA"/>
          </a:solidFill>
          <a:ln w="6350">
            <a:solidFill>
              <a:srgbClr val="DDD8C8"/>
            </a:solidFill>
            <a:prstDash val="solid"/>
          </a:ln>
        </p:spPr>
      </p:sp>
      <p:sp>
        <p:nvSpPr>
          <p:cNvPr id="9" name="Text 7"/>
          <p:cNvSpPr/>
          <p:nvPr/>
        </p:nvSpPr>
        <p:spPr>
          <a:xfrm>
            <a:off x="4629150" y="2209105"/>
            <a:ext cx="3008630" cy="360660"/>
          </a:xfrm>
          <a:prstGeom prst="rect">
            <a:avLst/>
          </a:prstGeom>
          <a:noFill/>
        </p:spPr>
        <p:txBody>
          <a:bodyPr wrap="square" lIns="0" tIns="0" rIns="0" bIns="0" rtlCol="0" anchor="t">
            <a:normAutofit/>
          </a:bodyPr>
          <a:lstStyle/>
          <a:p>
            <a:pPr marL="0" indent="0" algn="l">
              <a:lnSpc>
                <a:spcPts val="2640"/>
              </a:lnSpc>
              <a:buNone/>
            </a:pPr>
            <a:r>
              <a:rPr lang="en-US" sz="2200" b="1" dirty="0">
                <a:solidFill>
                  <a:srgbClr val="101B2D"/>
                </a:solidFill>
                <a:latin typeface="IBM Plex Sans" pitchFamily="34" charset="0"/>
                <a:ea typeface="IBM Plex Sans" pitchFamily="34" charset="-122"/>
                <a:cs typeface="IBM Plex Sans" pitchFamily="34" charset="-120"/>
              </a:rPr>
              <a:t>GitLab</a:t>
            </a:r>
            <a:endParaRPr lang="en-US" sz="2200" dirty="0"/>
          </a:p>
        </p:txBody>
      </p:sp>
      <p:sp>
        <p:nvSpPr>
          <p:cNvPr id="10" name="Text 8"/>
          <p:cNvSpPr/>
          <p:nvPr/>
        </p:nvSpPr>
        <p:spPr>
          <a:xfrm>
            <a:off x="4629150" y="2645966"/>
            <a:ext cx="3008630" cy="238720"/>
          </a:xfrm>
          <a:prstGeom prst="rect">
            <a:avLst/>
          </a:prstGeom>
          <a:noFill/>
        </p:spPr>
        <p:txBody>
          <a:bodyPr wrap="square" lIns="0" tIns="0" rIns="0" bIns="0" rtlCol="0" anchor="t">
            <a:normAutofit/>
          </a:bodyPr>
          <a:lstStyle/>
          <a:p>
            <a:pPr marL="0" indent="0" algn="l">
              <a:lnSpc>
                <a:spcPts val="1680"/>
              </a:lnSpc>
              <a:buNone/>
            </a:pPr>
            <a:r>
              <a:rPr lang="en-US" sz="1200" b="1" kern="0" spc="50" dirty="0">
                <a:solidFill>
                  <a:srgbClr val="C63A1E"/>
                </a:solidFill>
                <a:latin typeface="IBM Plex Sans" pitchFamily="34" charset="0"/>
                <a:ea typeface="IBM Plex Sans" pitchFamily="34" charset="-122"/>
                <a:cs typeface="IBM Plex Sans" pitchFamily="34" charset="-120"/>
              </a:rPr>
              <a:t>TOTUL ÎNTR-UN LOC</a:t>
            </a:r>
            <a:endParaRPr lang="en-US" sz="1200" dirty="0"/>
          </a:p>
        </p:txBody>
      </p:sp>
      <p:sp>
        <p:nvSpPr>
          <p:cNvPr id="11" name="Text 9"/>
          <p:cNvSpPr/>
          <p:nvPr/>
        </p:nvSpPr>
        <p:spPr>
          <a:xfrm>
            <a:off x="4714494" y="2960886"/>
            <a:ext cx="2915666" cy="949722"/>
          </a:xfrm>
          <a:prstGeom prst="rect">
            <a:avLst/>
          </a:prstGeom>
          <a:noFill/>
        </p:spPr>
        <p:txBody>
          <a:bodyPr wrap="square" lIns="0" tIns="0" rIns="0" bIns="0" rtlCol="0" anchor="t">
            <a:normAutofit/>
          </a:bodyPr>
          <a:lstStyle/>
          <a:p>
            <a:pPr marL="168910" indent="-168910" algn="l">
              <a:lnSpc>
                <a:spcPts val="1820"/>
              </a:lnSpc>
              <a:buSzPct val="100000"/>
              <a:buChar char="•"/>
            </a:pPr>
            <a:r>
              <a:rPr lang="en-US" sz="1300" dirty="0">
                <a:solidFill>
                  <a:srgbClr val="45526A"/>
                </a:solidFill>
                <a:latin typeface="IBM Plex Sans" pitchFamily="34" charset="0"/>
                <a:ea typeface="IBM Plex Sans" pitchFamily="34" charset="-122"/>
                <a:cs typeface="IBM Plex Sans" pitchFamily="34" charset="-120"/>
              </a:rPr>
              <a:t>CI/CD integrat din start</a:t>
            </a:r>
            <a:endParaRPr lang="en-US" sz="1300" dirty="0"/>
          </a:p>
          <a:p>
            <a:pPr marL="168910" indent="-168910" algn="l">
              <a:lnSpc>
                <a:spcPts val="1820"/>
              </a:lnSpc>
              <a:buSzPct val="100000"/>
              <a:buChar char="•"/>
            </a:pPr>
            <a:r>
              <a:rPr lang="en-US" sz="1300" dirty="0">
                <a:solidFill>
                  <a:srgbClr val="45526A"/>
                </a:solidFill>
                <a:latin typeface="IBM Plex Sans" pitchFamily="34" charset="0"/>
                <a:ea typeface="IBM Plex Sans" pitchFamily="34" charset="-122"/>
                <a:cs typeface="IBM Plex Sans" pitchFamily="34" charset="-120"/>
              </a:rPr>
              <a:t>Merge requests</a:t>
            </a:r>
            <a:endParaRPr lang="en-US" sz="1300" dirty="0"/>
          </a:p>
          <a:p>
            <a:pPr marL="168910" indent="-168910" algn="l">
              <a:lnSpc>
                <a:spcPts val="1820"/>
              </a:lnSpc>
              <a:buSzPct val="100000"/>
              <a:buChar char="•"/>
            </a:pPr>
            <a:r>
              <a:rPr lang="en-US" sz="1300" dirty="0">
                <a:solidFill>
                  <a:srgbClr val="45526A"/>
                </a:solidFill>
                <a:latin typeface="IBM Plex Sans" pitchFamily="34" charset="0"/>
                <a:ea typeface="IBM Plex Sans" pitchFamily="34" charset="-122"/>
                <a:cs typeface="IBM Plex Sans" pitchFamily="34" charset="-120"/>
              </a:rPr>
              <a:t>Se poate instala pe serverul propriu</a:t>
            </a:r>
            <a:endParaRPr lang="en-US" sz="1300" dirty="0"/>
          </a:p>
          <a:p>
            <a:pPr marL="168910" indent="-168910" algn="l">
              <a:lnSpc>
                <a:spcPts val="1820"/>
              </a:lnSpc>
              <a:buSzPct val="100000"/>
              <a:buChar char="•"/>
            </a:pPr>
            <a:r>
              <a:rPr lang="en-US" sz="1300" dirty="0">
                <a:solidFill>
                  <a:srgbClr val="45526A"/>
                </a:solidFill>
                <a:latin typeface="IBM Plex Sans" pitchFamily="34" charset="0"/>
                <a:ea typeface="IBM Plex Sans" pitchFamily="34" charset="-122"/>
                <a:cs typeface="IBM Plex Sans" pitchFamily="34" charset="-120"/>
              </a:rPr>
              <a:t>Des întâlnit în universități și firme</a:t>
            </a:r>
            <a:endParaRPr lang="en-US" sz="1300" dirty="0"/>
          </a:p>
        </p:txBody>
      </p:sp>
      <p:sp>
        <p:nvSpPr>
          <p:cNvPr id="12" name="Shape 10"/>
          <p:cNvSpPr/>
          <p:nvPr/>
        </p:nvSpPr>
        <p:spPr>
          <a:xfrm>
            <a:off x="7991475" y="1977330"/>
            <a:ext cx="3384550" cy="2139652"/>
          </a:xfrm>
          <a:prstGeom prst="roundRect">
            <a:avLst>
              <a:gd name="adj" fmla="val 4600"/>
            </a:avLst>
          </a:prstGeom>
          <a:solidFill>
            <a:srgbClr val="FFFEFA"/>
          </a:solidFill>
          <a:ln w="6350">
            <a:solidFill>
              <a:srgbClr val="DDD8C8"/>
            </a:solidFill>
            <a:prstDash val="solid"/>
          </a:ln>
        </p:spPr>
      </p:sp>
      <p:sp>
        <p:nvSpPr>
          <p:cNvPr id="13" name="Text 11"/>
          <p:cNvSpPr/>
          <p:nvPr/>
        </p:nvSpPr>
        <p:spPr>
          <a:xfrm>
            <a:off x="8223250" y="2209105"/>
            <a:ext cx="3008630" cy="360660"/>
          </a:xfrm>
          <a:prstGeom prst="rect">
            <a:avLst/>
          </a:prstGeom>
          <a:noFill/>
        </p:spPr>
        <p:txBody>
          <a:bodyPr wrap="square" lIns="0" tIns="0" rIns="0" bIns="0" rtlCol="0" anchor="t">
            <a:normAutofit/>
          </a:bodyPr>
          <a:lstStyle/>
          <a:p>
            <a:pPr marL="0" indent="0" algn="l">
              <a:lnSpc>
                <a:spcPts val="2640"/>
              </a:lnSpc>
              <a:buNone/>
            </a:pPr>
            <a:r>
              <a:rPr lang="en-US" sz="2200" b="1" dirty="0">
                <a:solidFill>
                  <a:srgbClr val="101B2D"/>
                </a:solidFill>
                <a:latin typeface="IBM Plex Sans" pitchFamily="34" charset="0"/>
                <a:ea typeface="IBM Plex Sans" pitchFamily="34" charset="-122"/>
                <a:cs typeface="IBM Plex Sans" pitchFamily="34" charset="-120"/>
              </a:rPr>
              <a:t>Bitbucket</a:t>
            </a:r>
            <a:endParaRPr lang="en-US" sz="2200" dirty="0"/>
          </a:p>
        </p:txBody>
      </p:sp>
      <p:sp>
        <p:nvSpPr>
          <p:cNvPr id="14" name="Text 12"/>
          <p:cNvSpPr/>
          <p:nvPr/>
        </p:nvSpPr>
        <p:spPr>
          <a:xfrm>
            <a:off x="8223250" y="2645966"/>
            <a:ext cx="3008630" cy="238720"/>
          </a:xfrm>
          <a:prstGeom prst="rect">
            <a:avLst/>
          </a:prstGeom>
          <a:noFill/>
        </p:spPr>
        <p:txBody>
          <a:bodyPr wrap="square" lIns="0" tIns="0" rIns="0" bIns="0" rtlCol="0" anchor="t">
            <a:normAutofit/>
          </a:bodyPr>
          <a:lstStyle/>
          <a:p>
            <a:pPr marL="0" indent="0" algn="l">
              <a:lnSpc>
                <a:spcPts val="1680"/>
              </a:lnSpc>
              <a:buNone/>
            </a:pPr>
            <a:r>
              <a:rPr lang="en-US" sz="1200" b="1" kern="0" spc="50" dirty="0">
                <a:solidFill>
                  <a:srgbClr val="C63A1E"/>
                </a:solidFill>
                <a:latin typeface="IBM Plex Sans" pitchFamily="34" charset="0"/>
                <a:ea typeface="IBM Plex Sans" pitchFamily="34" charset="-122"/>
                <a:cs typeface="IBM Plex Sans" pitchFamily="34" charset="-120"/>
              </a:rPr>
              <a:t>ECOSISTEMUL ATLASSIAN</a:t>
            </a:r>
            <a:endParaRPr lang="en-US" sz="1200" dirty="0"/>
          </a:p>
        </p:txBody>
      </p:sp>
      <p:sp>
        <p:nvSpPr>
          <p:cNvPr id="15" name="Text 13"/>
          <p:cNvSpPr/>
          <p:nvPr/>
        </p:nvSpPr>
        <p:spPr>
          <a:xfrm>
            <a:off x="8308594" y="2960886"/>
            <a:ext cx="2915666" cy="949722"/>
          </a:xfrm>
          <a:prstGeom prst="rect">
            <a:avLst/>
          </a:prstGeom>
          <a:noFill/>
        </p:spPr>
        <p:txBody>
          <a:bodyPr wrap="square" lIns="0" tIns="0" rIns="0" bIns="0" rtlCol="0" anchor="t">
            <a:normAutofit/>
          </a:bodyPr>
          <a:lstStyle/>
          <a:p>
            <a:pPr marL="168910" indent="-168910" algn="l">
              <a:lnSpc>
                <a:spcPts val="1820"/>
              </a:lnSpc>
              <a:buSzPct val="100000"/>
              <a:buChar char="•"/>
            </a:pPr>
            <a:r>
              <a:rPr lang="en-US" sz="1300" dirty="0">
                <a:solidFill>
                  <a:srgbClr val="45526A"/>
                </a:solidFill>
                <a:latin typeface="IBM Plex Sans" pitchFamily="34" charset="0"/>
                <a:ea typeface="IBM Plex Sans" pitchFamily="34" charset="-122"/>
                <a:cs typeface="IBM Plex Sans" pitchFamily="34" charset="-120"/>
              </a:rPr>
              <a:t>Se leagă direct de Jira</a:t>
            </a:r>
            <a:endParaRPr lang="en-US" sz="1300" dirty="0"/>
          </a:p>
          <a:p>
            <a:pPr marL="168910" indent="-168910" algn="l">
              <a:lnSpc>
                <a:spcPts val="1820"/>
              </a:lnSpc>
              <a:buSzPct val="100000"/>
              <a:buChar char="•"/>
            </a:pPr>
            <a:r>
              <a:rPr lang="en-US" sz="1300" dirty="0">
                <a:solidFill>
                  <a:srgbClr val="45526A"/>
                </a:solidFill>
                <a:latin typeface="IBM Plex Sans" pitchFamily="34" charset="0"/>
                <a:ea typeface="IBM Plex Sans" pitchFamily="34" charset="-122"/>
                <a:cs typeface="IBM Plex Sans" pitchFamily="34" charset="-120"/>
              </a:rPr>
              <a:t>Pull requests</a:t>
            </a:r>
            <a:endParaRPr lang="en-US" sz="1300" dirty="0"/>
          </a:p>
          <a:p>
            <a:pPr marL="168910" indent="-168910" algn="l">
              <a:lnSpc>
                <a:spcPts val="1820"/>
              </a:lnSpc>
              <a:buSzPct val="100000"/>
              <a:buChar char="•"/>
            </a:pPr>
            <a:r>
              <a:rPr lang="en-US" sz="1300" dirty="0">
                <a:solidFill>
                  <a:srgbClr val="45526A"/>
                </a:solidFill>
                <a:latin typeface="IBM Plex Sans" pitchFamily="34" charset="0"/>
                <a:ea typeface="IBM Plex Sans" pitchFamily="34" charset="-122"/>
                <a:cs typeface="IBM Plex Sans" pitchFamily="34" charset="-120"/>
              </a:rPr>
              <a:t>Folosit mai ales în companii</a:t>
            </a:r>
            <a:endParaRPr lang="en-US" sz="1300" dirty="0"/>
          </a:p>
          <a:p>
            <a:pPr marL="168910" indent="-168910" algn="l">
              <a:lnSpc>
                <a:spcPts val="1820"/>
              </a:lnSpc>
              <a:buSzPct val="100000"/>
              <a:buChar char="•"/>
            </a:pPr>
            <a:r>
              <a:rPr lang="en-US" sz="1300" dirty="0">
                <a:solidFill>
                  <a:srgbClr val="45526A"/>
                </a:solidFill>
                <a:latin typeface="IBM Plex Sans" pitchFamily="34" charset="0"/>
                <a:ea typeface="IBM Plex Sans" pitchFamily="34" charset="-122"/>
                <a:cs typeface="IBM Plex Sans" pitchFamily="34" charset="-120"/>
              </a:rPr>
              <a:t>Pipelines pentru automatizări</a:t>
            </a:r>
            <a:endParaRPr lang="en-US" sz="1300" dirty="0"/>
          </a:p>
        </p:txBody>
      </p:sp>
      <p:sp>
        <p:nvSpPr>
          <p:cNvPr id="16" name="Text 14"/>
          <p:cNvSpPr/>
          <p:nvPr/>
        </p:nvSpPr>
        <p:spPr>
          <a:xfrm>
            <a:off x="812800" y="4348758"/>
            <a:ext cx="10883392" cy="256480"/>
          </a:xfrm>
          <a:prstGeom prst="rect">
            <a:avLst/>
          </a:prstGeom>
          <a:noFill/>
        </p:spPr>
        <p:txBody>
          <a:bodyPr wrap="square" lIns="0" tIns="0" rIns="0" bIns="0" rtlCol="0" anchor="t">
            <a:normAutofit/>
          </a:bodyPr>
          <a:lstStyle/>
          <a:p>
            <a:pPr marL="0" indent="0" algn="l">
              <a:lnSpc>
                <a:spcPts val="1820"/>
              </a:lnSpc>
              <a:buNone/>
            </a:pPr>
            <a:r>
              <a:rPr lang="en-US" sz="1400" b="1" dirty="0">
                <a:solidFill>
                  <a:srgbClr val="101B2D"/>
                </a:solidFill>
                <a:latin typeface="IBM Plex Sans" pitchFamily="34" charset="0"/>
                <a:ea typeface="IBM Plex Sans" pitchFamily="34" charset="-122"/>
                <a:cs typeface="IBM Plex Sans" pitchFamily="34" charset="-120"/>
              </a:rPr>
              <a:t>Pull request = merge request: ceri unui coleg să verifice branch-ul înainte de merge.</a:t>
            </a:r>
            <a:endParaRPr lang="en-US" sz="1400" dirty="0"/>
          </a:p>
        </p:txBody>
      </p:sp>
    </p:spTree>
  </p:cSld>
  <p:clrMapOvr>
    <a:masterClrMapping/>
  </p:clrMapOvr>
</p:sld>
</file>

<file path=ppt/theme/theme1.xml><?xml version="1.0" encoding="utf-8"?>
<a:theme xmlns:a="http://schemas.openxmlformats.org/drawingml/2006/main" name="Git pentru începători">
  <a:themeElements>
    <a:clrScheme name="Git pentru începători">
      <a:dk1>
        <a:srgbClr val="101B2D"/>
      </a:dk1>
      <a:lt1>
        <a:srgbClr val="F7F5EF"/>
      </a:lt1>
      <a:dk2>
        <a:srgbClr val="4A525E"/>
      </a:dk2>
      <a:lt2>
        <a:srgbClr val="E0DFDC"/>
      </a:lt2>
      <a:accent1>
        <a:srgbClr val="C63A1E"/>
      </a:accent1>
      <a:accent2>
        <a:srgbClr val="F05033"/>
      </a:accent2>
      <a:accent3>
        <a:srgbClr val="2459C4"/>
      </a:accent3>
      <a:accent4>
        <a:srgbClr val="45526A"/>
      </a:accent4>
      <a:accent5>
        <a:srgbClr val="A9B8CF"/>
      </a:accent5>
      <a:accent6>
        <a:srgbClr val="E9E4D4"/>
      </a:accent6>
      <a:hlink>
        <a:srgbClr val="0563C1"/>
      </a:hlink>
      <a:folHlink>
        <a:srgbClr val="954F72"/>
      </a:folHlink>
    </a:clrScheme>
    <a:fontScheme name="Git pentru începător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it pentru începători">
  <a:themeElements>
    <a:clrScheme name="Git pentru începători">
      <a:dk1>
        <a:srgbClr val="101B2D"/>
      </a:dk1>
      <a:lt1>
        <a:srgbClr val="F7F5EF"/>
      </a:lt1>
      <a:dk2>
        <a:srgbClr val="4A525E"/>
      </a:dk2>
      <a:lt2>
        <a:srgbClr val="E0DFDC"/>
      </a:lt2>
      <a:accent1>
        <a:srgbClr val="C63A1E"/>
      </a:accent1>
      <a:accent2>
        <a:srgbClr val="F05033"/>
      </a:accent2>
      <a:accent3>
        <a:srgbClr val="2459C4"/>
      </a:accent3>
      <a:accent4>
        <a:srgbClr val="45526A"/>
      </a:accent4>
      <a:accent5>
        <a:srgbClr val="A9B8CF"/>
      </a:accent5>
      <a:accent6>
        <a:srgbClr val="E9E4D4"/>
      </a:accent6>
      <a:hlink>
        <a:srgbClr val="0563C1"/>
      </a:hlink>
      <a:folHlink>
        <a:srgbClr val="954F72"/>
      </a:folHlink>
    </a:clrScheme>
    <a:fontScheme name="Git pentru începător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4253</Words>
  <Application>WPS Writer</Application>
  <PresentationFormat>On-screen Show (16:9)</PresentationFormat>
  <Paragraphs>274</Paragraphs>
  <Slides>9</Slides>
  <Notes>12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9</vt:i4>
      </vt:variant>
    </vt:vector>
  </HeadingPairs>
  <TitlesOfParts>
    <vt:vector size="26" baseType="lpstr">
      <vt:lpstr>Arial</vt:lpstr>
      <vt:lpstr>SimSun</vt:lpstr>
      <vt:lpstr>Wingdings</vt:lpstr>
      <vt:lpstr>IBM Plex Sans</vt:lpstr>
      <vt:lpstr>苹方-简</vt:lpstr>
      <vt:lpstr>IBM Plex Sans</vt:lpstr>
      <vt:lpstr>宋体-简</vt:lpstr>
      <vt:lpstr>IBM Plex Sans</vt:lpstr>
      <vt:lpstr>JetBrains Mono</vt:lpstr>
      <vt:lpstr>JetBrains Mono</vt:lpstr>
      <vt:lpstr>JetBrains Mono</vt:lpstr>
      <vt:lpstr>Microsoft YaHei</vt:lpstr>
      <vt:lpstr>汉仪旗黑</vt:lpstr>
      <vt:lpstr>Arial Unicode MS</vt:lpstr>
      <vt:lpstr>Calibri</vt:lpstr>
      <vt:lpstr>Helvetica Neue</vt:lpstr>
      <vt:lpstr>Git pentru începători</vt:lpstr>
      <vt:lpstr>Git, pas cu pas</vt:lpstr>
      <vt:lpstr>De ce avem nevoie de versionare</vt:lpstr>
      <vt:lpstr>Cele patru zone prin care trece codul</vt:lpstr>
      <vt:lpstr>Instalare și primul commit</vt:lpstr>
      <vt:lpstr>Ciclul de lucru zilnic</vt:lpstr>
      <vt:lpstr>Un branch este o linie paralelă de lucru</vt:lpstr>
      <vt:lpstr>Branching în cinci pași</vt:lpstr>
      <vt:lpstr>Conflictul la merge este o întrebare</vt:lpstr>
      <vt:lpstr>Git e unealta, platforma e locul de întâlnire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pentru începători</dc:title>
  <dc:creator/>
  <cp:lastModifiedBy>Madalina Nastase</cp:lastModifiedBy>
  <cp:revision>2</cp:revision>
  <dcterms:created xsi:type="dcterms:W3CDTF">2026-10-06T12:48:48Z</dcterms:created>
  <dcterms:modified xsi:type="dcterms:W3CDTF">2026-10-06T12:48:48Z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2C4956AFF8C75F2B30EEC46A6B655F14_42</vt:lpwstr>
  </property>
  <property fmtid="{D5CDD505-2E9C-101B-9397-08002B2CF9AE}" pid="3" name="KSOProductBuildVer">
    <vt:lpwstr>1033-6.10.2.8397</vt:lpwstr>
  </property>
</Properties>
</file>